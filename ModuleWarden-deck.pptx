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163824"/>
            <a:ext cx="12191695" cy="45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828800"/>
            <a:ext cx="10515600" cy="457200"/>
          </a:xfrm>
          <a:prstGeom prst="rect">
            <a:avLst/>
          </a:prstGeom>
          <a:noFill/>
        </p:spPr>
        <p:txBody>
          <a:bodyPr wrap="square" anchor="t">
            <a:spAutoFit/>
          </a:bodyPr>
          <a:lstStyle/>
          <a:p>
            <a:pPr algn="l">
              <a:lnSpc>
                <a:spcPct val="100000"/>
              </a:lnSpc>
            </a:pPr>
            <a:r>
              <a:rPr sz="2000" b="1">
                <a:solidFill>
                  <a:srgbClr val="34D399"/>
                </a:solidFill>
                <a:latin typeface="Consolas"/>
              </a:rPr>
              <a:t>MODULEWARDEN</a:t>
            </a:r>
          </a:p>
        </p:txBody>
      </p:sp>
      <p:sp>
        <p:nvSpPr>
          <p:cNvPr id="5" name="TextBox 4"/>
          <p:cNvSpPr txBox="1"/>
          <p:nvPr/>
        </p:nvSpPr>
        <p:spPr>
          <a:xfrm>
            <a:off x="777240" y="2331720"/>
            <a:ext cx="10607040" cy="1371600"/>
          </a:xfrm>
          <a:prstGeom prst="rect">
            <a:avLst/>
          </a:prstGeom>
          <a:noFill/>
        </p:spPr>
        <p:txBody>
          <a:bodyPr wrap="square" anchor="t">
            <a:spAutoFit/>
          </a:bodyPr>
          <a:lstStyle/>
          <a:p>
            <a:pPr algn="l">
              <a:lnSpc>
                <a:spcPct val="102000"/>
              </a:lnSpc>
            </a:pPr>
            <a:r>
              <a:rPr sz="4400" b="1">
                <a:solidFill>
                  <a:srgbClr val="F1F5F9"/>
                </a:solidFill>
                <a:latin typeface="Arial"/>
              </a:rPr>
              <a:t>Forecast and gate your software supply chain.</a:t>
            </a:r>
          </a:p>
        </p:txBody>
      </p:sp>
      <p:sp>
        <p:nvSpPr>
          <p:cNvPr id="6" name="TextBox 5"/>
          <p:cNvSpPr txBox="1"/>
          <p:nvPr/>
        </p:nvSpPr>
        <p:spPr>
          <a:xfrm>
            <a:off x="822960" y="3429000"/>
            <a:ext cx="10515600" cy="1097280"/>
          </a:xfrm>
          <a:prstGeom prst="rect">
            <a:avLst/>
          </a:prstGeom>
          <a:noFill/>
        </p:spPr>
        <p:txBody>
          <a:bodyPr wrap="square" anchor="t">
            <a:spAutoFit/>
          </a:bodyPr>
          <a:lstStyle/>
          <a:p>
            <a:pPr algn="l">
              <a:lnSpc>
                <a:spcPct val="118000"/>
              </a:lnSpc>
            </a:pPr>
            <a:r>
              <a:rPr sz="2000" b="0">
                <a:solidFill>
                  <a:srgbClr val="ADBACC"/>
                </a:solidFill>
                <a:latin typeface="Arial"/>
              </a:rPr>
              <a:t>Stop trusting your dependencies. Rank them by trajectory, gate the known-bad, and ship a git-committed evidence memo for every decision.</a:t>
            </a:r>
          </a:p>
        </p:txBody>
      </p:sp>
      <p:sp>
        <p:nvSpPr>
          <p:cNvPr id="7" name="TextBox 6"/>
          <p:cNvSpPr txBox="1"/>
          <p:nvPr/>
        </p:nvSpPr>
        <p:spPr>
          <a:xfrm>
            <a:off x="822960" y="5760720"/>
            <a:ext cx="10515600" cy="731520"/>
          </a:xfrm>
          <a:prstGeom prst="rect">
            <a:avLst/>
          </a:prstGeom>
          <a:noFill/>
        </p:spPr>
        <p:txBody>
          <a:bodyPr wrap="square" anchor="t">
            <a:spAutoFit/>
          </a:bodyPr>
          <a:lstStyle/>
          <a:p>
            <a:pPr algn="l">
              <a:lnSpc>
                <a:spcPct val="100000"/>
              </a:lnSpc>
            </a:pPr>
            <a:r>
              <a:rPr sz="1500" b="0">
                <a:solidFill>
                  <a:srgbClr val="64748B"/>
                </a:solidFill>
                <a:latin typeface="Consolas"/>
              </a:rPr>
              <a:t>Team Andrew  ·  Zero-One Hack Vienna 2026  ·  Sybilion Forecast track</a:t>
            </a:r>
          </a:p>
          <a:p>
            <a:pPr algn="l">
              <a:lnSpc>
                <a:spcPct val="100000"/>
              </a:lnSpc>
              <a:spcBef>
                <a:spcPts val="600"/>
              </a:spcBef>
            </a:pPr>
            <a:r>
              <a:rPr sz="1400" b="0">
                <a:solidFill>
                  <a:srgbClr val="34D399"/>
                </a:solidFill>
                <a:latin typeface="Consolas"/>
              </a:rPr>
              <a:t>modulewarden.com  ·  github.com/apetersson/ModuleWarden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640080"/>
            <a:ext cx="82296" cy="45720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66928"/>
            <a:ext cx="10058400" cy="365760"/>
          </a:xfrm>
          <a:prstGeom prst="rect">
            <a:avLst/>
          </a:prstGeom>
          <a:noFill/>
        </p:spPr>
        <p:txBody>
          <a:bodyPr wrap="square" anchor="t">
            <a:spAutoFit/>
          </a:bodyPr>
          <a:lstStyle/>
          <a:p>
            <a:pPr algn="l">
              <a:lnSpc>
                <a:spcPct val="100000"/>
              </a:lnSpc>
            </a:pPr>
            <a:r>
              <a:rPr sz="1300" b="1">
                <a:solidFill>
                  <a:srgbClr val="34D399"/>
                </a:solidFill>
                <a:latin typeface="Consolas"/>
              </a:rPr>
              <a:t>THE PROBLEM</a:t>
            </a:r>
          </a:p>
        </p:txBody>
      </p:sp>
      <p:sp>
        <p:nvSpPr>
          <p:cNvPr id="5" name="TextBox 4"/>
          <p:cNvSpPr txBox="1"/>
          <p:nvPr/>
        </p:nvSpPr>
        <p:spPr>
          <a:xfrm>
            <a:off x="713232" y="1051560"/>
            <a:ext cx="10698480" cy="1463040"/>
          </a:xfrm>
          <a:prstGeom prst="rect">
            <a:avLst/>
          </a:prstGeom>
          <a:noFill/>
        </p:spPr>
        <p:txBody>
          <a:bodyPr wrap="square" anchor="t">
            <a:spAutoFit/>
          </a:bodyPr>
          <a:lstStyle/>
          <a:p>
            <a:pPr algn="l">
              <a:lnSpc>
                <a:spcPct val="102000"/>
              </a:lnSpc>
            </a:pPr>
            <a:r>
              <a:rPr sz="3800" b="1">
                <a:solidFill>
                  <a:srgbClr val="F1F5F9"/>
                </a:solidFill>
                <a:latin typeface="Arial"/>
              </a:rPr>
              <a:t>Your supply chain is code you did not write.</a:t>
            </a:r>
          </a:p>
        </p:txBody>
      </p:sp>
      <p:sp>
        <p:nvSpPr>
          <p:cNvPr id="6" name="TextBox 5"/>
          <p:cNvSpPr txBox="1"/>
          <p:nvPr/>
        </p:nvSpPr>
        <p:spPr>
          <a:xfrm>
            <a:off x="731520" y="2651760"/>
            <a:ext cx="10698480" cy="3108960"/>
          </a:xfrm>
          <a:prstGeom prst="rect">
            <a:avLst/>
          </a:prstGeom>
          <a:noFill/>
        </p:spPr>
        <p:txBody>
          <a:bodyPr wrap="square" anchor="t">
            <a:spAutoFit/>
          </a:bodyPr>
          <a:lstStyle/>
          <a:p>
            <a:pPr algn="l">
              <a:lnSpc>
                <a:spcPct val="118000"/>
              </a:lnSpc>
            </a:pPr>
            <a:r>
              <a:rPr sz="2100" b="0">
                <a:solidFill>
                  <a:srgbClr val="ADBACC"/>
                </a:solidFill>
                <a:latin typeface="Arial"/>
              </a:rPr>
              <a:t>Every package you install runs on every machine you ship to. You depend on hundreds of open-source packages and can review almost none of them.</a:t>
            </a:r>
          </a:p>
        </p:txBody>
      </p:sp>
      <p:sp>
        <p:nvSpPr>
          <p:cNvPr id="7" name="TextBox 6"/>
          <p:cNvSpPr txBox="1"/>
          <p:nvPr/>
        </p:nvSpPr>
        <p:spPr>
          <a:xfrm>
            <a:off x="502920" y="6400800"/>
            <a:ext cx="8229600" cy="365760"/>
          </a:xfrm>
          <a:prstGeom prst="rect">
            <a:avLst/>
          </a:prstGeom>
          <a:noFill/>
        </p:spPr>
        <p:txBody>
          <a:bodyPr wrap="square" anchor="t">
            <a:spAutoFit/>
          </a:bodyPr>
          <a:lstStyle/>
          <a:p>
            <a:pPr algn="l">
              <a:lnSpc>
                <a:spcPct val="100000"/>
              </a:lnSpc>
            </a:pPr>
            <a:r>
              <a:rPr sz="1000" b="0">
                <a:solidFill>
                  <a:srgbClr val="64748B"/>
                </a:solidFill>
                <a:latin typeface="Consolas"/>
              </a:rPr>
              <a:t>ModuleWarden  ·  Zero-One Hack Vienna 2026  ·  Forecast track</a:t>
            </a:r>
          </a:p>
        </p:txBody>
      </p:sp>
      <p:sp>
        <p:nvSpPr>
          <p:cNvPr id="8" name="TextBox 7"/>
          <p:cNvSpPr txBox="1"/>
          <p:nvPr/>
        </p:nvSpPr>
        <p:spPr>
          <a:xfrm>
            <a:off x="11155680" y="6400800"/>
            <a:ext cx="731520" cy="365760"/>
          </a:xfrm>
          <a:prstGeom prst="rect">
            <a:avLst/>
          </a:prstGeom>
          <a:noFill/>
        </p:spPr>
        <p:txBody>
          <a:bodyPr wrap="square" anchor="t">
            <a:spAutoFit/>
          </a:bodyPr>
          <a:lstStyle/>
          <a:p>
            <a:pPr algn="r">
              <a:lnSpc>
                <a:spcPct val="100000"/>
              </a:lnSpc>
            </a:pPr>
            <a:r>
              <a:rPr sz="1000" b="0">
                <a:solidFill>
                  <a:srgbClr val="64748B"/>
                </a:solidFill>
                <a:latin typeface="Consola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640080"/>
            <a:ext cx="82296" cy="45720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66928"/>
            <a:ext cx="10058400" cy="365760"/>
          </a:xfrm>
          <a:prstGeom prst="rect">
            <a:avLst/>
          </a:prstGeom>
          <a:noFill/>
        </p:spPr>
        <p:txBody>
          <a:bodyPr wrap="square" anchor="t">
            <a:spAutoFit/>
          </a:bodyPr>
          <a:lstStyle/>
          <a:p>
            <a:pPr algn="l">
              <a:lnSpc>
                <a:spcPct val="100000"/>
              </a:lnSpc>
            </a:pPr>
            <a:r>
              <a:rPr sz="1300" b="1">
                <a:solidFill>
                  <a:srgbClr val="34D399"/>
                </a:solidFill>
                <a:latin typeface="Consolas"/>
              </a:rPr>
              <a:t>THE THREAT</a:t>
            </a:r>
          </a:p>
        </p:txBody>
      </p:sp>
      <p:sp>
        <p:nvSpPr>
          <p:cNvPr id="5" name="TextBox 4"/>
          <p:cNvSpPr txBox="1"/>
          <p:nvPr/>
        </p:nvSpPr>
        <p:spPr>
          <a:xfrm>
            <a:off x="713232" y="1051560"/>
            <a:ext cx="10698480" cy="1463040"/>
          </a:xfrm>
          <a:prstGeom prst="rect">
            <a:avLst/>
          </a:prstGeom>
          <a:noFill/>
        </p:spPr>
        <p:txBody>
          <a:bodyPr wrap="square" anchor="t">
            <a:spAutoFit/>
          </a:bodyPr>
          <a:lstStyle/>
          <a:p>
            <a:pPr algn="l">
              <a:lnSpc>
                <a:spcPct val="102000"/>
              </a:lnSpc>
            </a:pPr>
            <a:r>
              <a:rPr sz="3800" b="1">
                <a:solidFill>
                  <a:srgbClr val="F1F5F9"/>
                </a:solidFill>
                <a:latin typeface="Arial"/>
              </a:rPr>
              <a:t>The danger is the delta.</a:t>
            </a:r>
          </a:p>
        </p:txBody>
      </p:sp>
      <p:sp>
        <p:nvSpPr>
          <p:cNvPr id="6" name="TextBox 5"/>
          <p:cNvSpPr txBox="1"/>
          <p:nvPr/>
        </p:nvSpPr>
        <p:spPr>
          <a:xfrm>
            <a:off x="731520" y="2651760"/>
            <a:ext cx="10698480" cy="3108960"/>
          </a:xfrm>
          <a:prstGeom prst="rect">
            <a:avLst/>
          </a:prstGeom>
          <a:noFill/>
        </p:spPr>
        <p:txBody>
          <a:bodyPr wrap="square" anchor="t">
            <a:spAutoFit/>
          </a:bodyPr>
          <a:lstStyle/>
          <a:p>
            <a:pPr algn="l">
              <a:lnSpc>
                <a:spcPct val="118000"/>
              </a:lnSpc>
            </a:pPr>
            <a:r>
              <a:rPr sz="2100" b="0">
                <a:solidFill>
                  <a:srgbClr val="ADBACC"/>
                </a:solidFill>
                <a:latin typeface="Arial"/>
              </a:rPr>
              <a:t>A package you trust ships a new release. The maintainer account is compromised, or a contributor goes rogue. A careful attacker leaves nothing a static scanner catches. What matters is what changed between two versions.</a:t>
            </a:r>
          </a:p>
        </p:txBody>
      </p:sp>
      <p:sp>
        <p:nvSpPr>
          <p:cNvPr id="7" name="TextBox 6"/>
          <p:cNvSpPr txBox="1"/>
          <p:nvPr/>
        </p:nvSpPr>
        <p:spPr>
          <a:xfrm>
            <a:off x="502920" y="6400800"/>
            <a:ext cx="8229600" cy="365760"/>
          </a:xfrm>
          <a:prstGeom prst="rect">
            <a:avLst/>
          </a:prstGeom>
          <a:noFill/>
        </p:spPr>
        <p:txBody>
          <a:bodyPr wrap="square" anchor="t">
            <a:spAutoFit/>
          </a:bodyPr>
          <a:lstStyle/>
          <a:p>
            <a:pPr algn="l">
              <a:lnSpc>
                <a:spcPct val="100000"/>
              </a:lnSpc>
            </a:pPr>
            <a:r>
              <a:rPr sz="1000" b="0">
                <a:solidFill>
                  <a:srgbClr val="64748B"/>
                </a:solidFill>
                <a:latin typeface="Consolas"/>
              </a:rPr>
              <a:t>ModuleWarden  ·  Zero-One Hack Vienna 2026  ·  Forecast track</a:t>
            </a:r>
          </a:p>
        </p:txBody>
      </p:sp>
      <p:sp>
        <p:nvSpPr>
          <p:cNvPr id="8" name="TextBox 7"/>
          <p:cNvSpPr txBox="1"/>
          <p:nvPr/>
        </p:nvSpPr>
        <p:spPr>
          <a:xfrm>
            <a:off x="11155680" y="6400800"/>
            <a:ext cx="731520" cy="365760"/>
          </a:xfrm>
          <a:prstGeom prst="rect">
            <a:avLst/>
          </a:prstGeom>
          <a:noFill/>
        </p:spPr>
        <p:txBody>
          <a:bodyPr wrap="square" anchor="t">
            <a:spAutoFit/>
          </a:bodyPr>
          <a:lstStyle/>
          <a:p>
            <a:pPr algn="r">
              <a:lnSpc>
                <a:spcPct val="100000"/>
              </a:lnSpc>
            </a:pPr>
            <a:r>
              <a:rPr sz="1000" b="0">
                <a:solidFill>
                  <a:srgbClr val="64748B"/>
                </a:solidFill>
                <a:latin typeface="Consola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640080"/>
            <a:ext cx="82296" cy="45720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66928"/>
            <a:ext cx="10058400" cy="365760"/>
          </a:xfrm>
          <a:prstGeom prst="rect">
            <a:avLst/>
          </a:prstGeom>
          <a:noFill/>
        </p:spPr>
        <p:txBody>
          <a:bodyPr wrap="square" anchor="t">
            <a:spAutoFit/>
          </a:bodyPr>
          <a:lstStyle/>
          <a:p>
            <a:pPr algn="l">
              <a:lnSpc>
                <a:spcPct val="100000"/>
              </a:lnSpc>
            </a:pPr>
            <a:r>
              <a:rPr sz="1300" b="1">
                <a:solidFill>
                  <a:srgbClr val="34D399"/>
                </a:solidFill>
                <a:latin typeface="Consolas"/>
              </a:rPr>
              <a:t>THE MATH YOU CAN'T OUT-REVIEW</a:t>
            </a:r>
          </a:p>
        </p:txBody>
      </p:sp>
      <p:sp>
        <p:nvSpPr>
          <p:cNvPr id="5" name="TextBox 4"/>
          <p:cNvSpPr txBox="1"/>
          <p:nvPr/>
        </p:nvSpPr>
        <p:spPr>
          <a:xfrm>
            <a:off x="713232" y="1051560"/>
            <a:ext cx="10698480" cy="1463040"/>
          </a:xfrm>
          <a:prstGeom prst="rect">
            <a:avLst/>
          </a:prstGeom>
          <a:noFill/>
        </p:spPr>
        <p:txBody>
          <a:bodyPr wrap="square" anchor="t">
            <a:spAutoFit/>
          </a:bodyPr>
          <a:lstStyle/>
          <a:p>
            <a:pPr algn="l">
              <a:lnSpc>
                <a:spcPct val="102000"/>
              </a:lnSpc>
            </a:pPr>
            <a:r>
              <a:rPr sz="3800" b="1">
                <a:solidFill>
                  <a:srgbClr val="F1F5F9"/>
                </a:solidFill>
                <a:latin typeface="Arial"/>
              </a:rPr>
              <a:t>Every dependency multiplies the risk.</a:t>
            </a:r>
          </a:p>
        </p:txBody>
      </p:sp>
      <p:sp>
        <p:nvSpPr>
          <p:cNvPr id="6" name="TextBox 5"/>
          <p:cNvSpPr txBox="1"/>
          <p:nvPr/>
        </p:nvSpPr>
        <p:spPr>
          <a:xfrm>
            <a:off x="731520" y="2651760"/>
            <a:ext cx="6492240" cy="3108960"/>
          </a:xfrm>
          <a:prstGeom prst="rect">
            <a:avLst/>
          </a:prstGeom>
          <a:noFill/>
        </p:spPr>
        <p:txBody>
          <a:bodyPr wrap="square" anchor="t">
            <a:spAutoFit/>
          </a:bodyPr>
          <a:lstStyle/>
          <a:p>
            <a:pPr algn="l">
              <a:lnSpc>
                <a:spcPct val="118000"/>
              </a:lnSpc>
            </a:pPr>
            <a:r>
              <a:rPr sz="2100" b="0">
                <a:solidFill>
                  <a:srgbClr val="ADBACC"/>
                </a:solidFill>
                <a:latin typeface="Arial"/>
              </a:rPr>
              <a:t>The chance at least one dependency is an attack vector is 1 - (1 - p)^N. Even at a fraction of a percent per package, a typical app's 1,000-plus transitive dependencies push that toward certain. A team can hand-review maybe fifty.</a:t>
            </a:r>
          </a:p>
        </p:txBody>
      </p:sp>
      <p:sp>
        <p:nvSpPr>
          <p:cNvPr id="7" name="Rectangle 6"/>
          <p:cNvSpPr/>
          <p:nvPr/>
        </p:nvSpPr>
        <p:spPr>
          <a:xfrm>
            <a:off x="7360920" y="2606040"/>
            <a:ext cx="4297680" cy="3154680"/>
          </a:xfrm>
          <a:prstGeom prst="rect">
            <a:avLst/>
          </a:prstGeom>
          <a:solidFill>
            <a:srgbClr val="0E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ompounding-risk.png"/>
          <p:cNvPicPr>
            <a:picLocks noChangeAspect="1"/>
          </p:cNvPicPr>
          <p:nvPr/>
        </p:nvPicPr>
        <p:blipFill>
          <a:blip r:embed="rId2"/>
          <a:stretch>
            <a:fillRect/>
          </a:stretch>
        </p:blipFill>
        <p:spPr>
          <a:xfrm>
            <a:off x="7498079" y="2743200"/>
            <a:ext cx="4023360" cy="2340864"/>
          </a:xfrm>
          <a:prstGeom prst="rect">
            <a:avLst/>
          </a:prstGeom>
        </p:spPr>
      </p:pic>
      <p:sp>
        <p:nvSpPr>
          <p:cNvPr id="9" name="TextBox 8"/>
          <p:cNvSpPr txBox="1"/>
          <p:nvPr/>
        </p:nvSpPr>
        <p:spPr>
          <a:xfrm>
            <a:off x="502920" y="6400800"/>
            <a:ext cx="8229600" cy="365760"/>
          </a:xfrm>
          <a:prstGeom prst="rect">
            <a:avLst/>
          </a:prstGeom>
          <a:noFill/>
        </p:spPr>
        <p:txBody>
          <a:bodyPr wrap="square" anchor="t">
            <a:spAutoFit/>
          </a:bodyPr>
          <a:lstStyle/>
          <a:p>
            <a:pPr algn="l">
              <a:lnSpc>
                <a:spcPct val="100000"/>
              </a:lnSpc>
            </a:pPr>
            <a:r>
              <a:rPr sz="1000" b="0">
                <a:solidFill>
                  <a:srgbClr val="64748B"/>
                </a:solidFill>
                <a:latin typeface="Consolas"/>
              </a:rPr>
              <a:t>ModuleWarden  ·  Zero-One Hack Vienna 2026  ·  Forecast track</a:t>
            </a:r>
          </a:p>
        </p:txBody>
      </p:sp>
      <p:sp>
        <p:nvSpPr>
          <p:cNvPr id="10" name="TextBox 9"/>
          <p:cNvSpPr txBox="1"/>
          <p:nvPr/>
        </p:nvSpPr>
        <p:spPr>
          <a:xfrm>
            <a:off x="11155680" y="6400800"/>
            <a:ext cx="731520" cy="365760"/>
          </a:xfrm>
          <a:prstGeom prst="rect">
            <a:avLst/>
          </a:prstGeom>
          <a:noFill/>
        </p:spPr>
        <p:txBody>
          <a:bodyPr wrap="square" anchor="t">
            <a:spAutoFit/>
          </a:bodyPr>
          <a:lstStyle/>
          <a:p>
            <a:pPr algn="r">
              <a:lnSpc>
                <a:spcPct val="100000"/>
              </a:lnSpc>
            </a:pPr>
            <a:r>
              <a:rPr sz="1000" b="0">
                <a:solidFill>
                  <a:srgbClr val="64748B"/>
                </a:solidFill>
                <a:latin typeface="Consola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640080"/>
            <a:ext cx="82296" cy="45720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66928"/>
            <a:ext cx="10058400" cy="365760"/>
          </a:xfrm>
          <a:prstGeom prst="rect">
            <a:avLst/>
          </a:prstGeom>
          <a:noFill/>
        </p:spPr>
        <p:txBody>
          <a:bodyPr wrap="square" anchor="t">
            <a:spAutoFit/>
          </a:bodyPr>
          <a:lstStyle/>
          <a:p>
            <a:pPr algn="l">
              <a:lnSpc>
                <a:spcPct val="100000"/>
              </a:lnSpc>
            </a:pPr>
            <a:r>
              <a:rPr sz="1300" b="1">
                <a:solidFill>
                  <a:srgbClr val="34D399"/>
                </a:solidFill>
                <a:latin typeface="Consolas"/>
              </a:rPr>
              <a:t>THE DEFENSE</a:t>
            </a:r>
          </a:p>
        </p:txBody>
      </p:sp>
      <p:sp>
        <p:nvSpPr>
          <p:cNvPr id="5" name="TextBox 4"/>
          <p:cNvSpPr txBox="1"/>
          <p:nvPr/>
        </p:nvSpPr>
        <p:spPr>
          <a:xfrm>
            <a:off x="713232" y="1051560"/>
            <a:ext cx="10698480" cy="1463040"/>
          </a:xfrm>
          <a:prstGeom prst="rect">
            <a:avLst/>
          </a:prstGeom>
          <a:noFill/>
        </p:spPr>
        <p:txBody>
          <a:bodyPr wrap="square" anchor="t">
            <a:spAutoFit/>
          </a:bodyPr>
          <a:lstStyle/>
          <a:p>
            <a:pPr algn="l">
              <a:lnSpc>
                <a:spcPct val="102000"/>
              </a:lnSpc>
            </a:pPr>
            <a:r>
              <a:rPr sz="3800" b="1">
                <a:solidFill>
                  <a:srgbClr val="F1F5F9"/>
                </a:solidFill>
                <a:latin typeface="Arial"/>
              </a:rPr>
              <a:t>Guard the one interface every package crosses.</a:t>
            </a:r>
          </a:p>
        </p:txBody>
      </p:sp>
      <p:sp>
        <p:nvSpPr>
          <p:cNvPr id="6" name="TextBox 5"/>
          <p:cNvSpPr txBox="1"/>
          <p:nvPr/>
        </p:nvSpPr>
        <p:spPr>
          <a:xfrm>
            <a:off x="731520" y="2651760"/>
            <a:ext cx="10698480" cy="3108960"/>
          </a:xfrm>
          <a:prstGeom prst="rect">
            <a:avLst/>
          </a:prstGeom>
          <a:noFill/>
        </p:spPr>
        <p:txBody>
          <a:bodyPr wrap="square" anchor="t">
            <a:spAutoFit/>
          </a:bodyPr>
          <a:lstStyle/>
          <a:p>
            <a:pPr algn="l">
              <a:lnSpc>
                <a:spcPct val="118000"/>
              </a:lnSpc>
            </a:pPr>
            <a:r>
              <a:rPr sz="2100" b="0">
                <a:solidFill>
                  <a:srgbClr val="ADBACC"/>
                </a:solidFill>
                <a:latin typeface="Arial"/>
              </a:rPr>
              <a:t>ModuleWarden sits at the registry. Turn it on with a single line, and every new version is audited automatically before it reaches your code. One verdict: allow, block, or quarantine.</a:t>
            </a:r>
          </a:p>
        </p:txBody>
      </p:sp>
      <p:sp>
        <p:nvSpPr>
          <p:cNvPr id="7" name="TextBox 6"/>
          <p:cNvSpPr txBox="1"/>
          <p:nvPr/>
        </p:nvSpPr>
        <p:spPr>
          <a:xfrm>
            <a:off x="502920" y="6400800"/>
            <a:ext cx="8229600" cy="365760"/>
          </a:xfrm>
          <a:prstGeom prst="rect">
            <a:avLst/>
          </a:prstGeom>
          <a:noFill/>
        </p:spPr>
        <p:txBody>
          <a:bodyPr wrap="square" anchor="t">
            <a:spAutoFit/>
          </a:bodyPr>
          <a:lstStyle/>
          <a:p>
            <a:pPr algn="l">
              <a:lnSpc>
                <a:spcPct val="100000"/>
              </a:lnSpc>
            </a:pPr>
            <a:r>
              <a:rPr sz="1000" b="0">
                <a:solidFill>
                  <a:srgbClr val="64748B"/>
                </a:solidFill>
                <a:latin typeface="Consolas"/>
              </a:rPr>
              <a:t>ModuleWarden  ·  Zero-One Hack Vienna 2026  ·  Forecast track</a:t>
            </a:r>
          </a:p>
        </p:txBody>
      </p:sp>
      <p:sp>
        <p:nvSpPr>
          <p:cNvPr id="8" name="TextBox 7"/>
          <p:cNvSpPr txBox="1"/>
          <p:nvPr/>
        </p:nvSpPr>
        <p:spPr>
          <a:xfrm>
            <a:off x="11155680" y="6400800"/>
            <a:ext cx="731520" cy="365760"/>
          </a:xfrm>
          <a:prstGeom prst="rect">
            <a:avLst/>
          </a:prstGeom>
          <a:noFill/>
        </p:spPr>
        <p:txBody>
          <a:bodyPr wrap="square" anchor="t">
            <a:spAutoFit/>
          </a:bodyPr>
          <a:lstStyle/>
          <a:p>
            <a:pPr algn="r">
              <a:lnSpc>
                <a:spcPct val="100000"/>
              </a:lnSpc>
            </a:pPr>
            <a:r>
              <a:rPr sz="1000" b="0">
                <a:solidFill>
                  <a:srgbClr val="64748B"/>
                </a:solidFill>
                <a:latin typeface="Consola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640080"/>
            <a:ext cx="82296" cy="45720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66928"/>
            <a:ext cx="10058400" cy="365760"/>
          </a:xfrm>
          <a:prstGeom prst="rect">
            <a:avLst/>
          </a:prstGeom>
          <a:noFill/>
        </p:spPr>
        <p:txBody>
          <a:bodyPr wrap="square" anchor="t">
            <a:spAutoFit/>
          </a:bodyPr>
          <a:lstStyle/>
          <a:p>
            <a:pPr algn="l">
              <a:lnSpc>
                <a:spcPct val="100000"/>
              </a:lnSpc>
            </a:pPr>
            <a:r>
              <a:rPr sz="1300" b="1">
                <a:solidFill>
                  <a:srgbClr val="34D399"/>
                </a:solidFill>
                <a:latin typeface="Consolas"/>
              </a:rPr>
              <a:t>EVIDENCE FIRST, VERDICT SECOND</a:t>
            </a:r>
          </a:p>
        </p:txBody>
      </p:sp>
      <p:sp>
        <p:nvSpPr>
          <p:cNvPr id="5" name="TextBox 4"/>
          <p:cNvSpPr txBox="1"/>
          <p:nvPr/>
        </p:nvSpPr>
        <p:spPr>
          <a:xfrm>
            <a:off x="713232" y="1051560"/>
            <a:ext cx="10698480" cy="1463040"/>
          </a:xfrm>
          <a:prstGeom prst="rect">
            <a:avLst/>
          </a:prstGeom>
          <a:noFill/>
        </p:spPr>
        <p:txBody>
          <a:bodyPr wrap="square" anchor="t">
            <a:spAutoFit/>
          </a:bodyPr>
          <a:lstStyle/>
          <a:p>
            <a:pPr algn="l">
              <a:lnSpc>
                <a:spcPct val="102000"/>
              </a:lnSpc>
            </a:pPr>
            <a:r>
              <a:rPr sz="3800" b="1">
                <a:solidFill>
                  <a:srgbClr val="F1F5F9"/>
                </a:solidFill>
                <a:latin typeface="Arial"/>
              </a:rPr>
              <a:t>Read exactly what the model saw.</a:t>
            </a:r>
          </a:p>
        </p:txBody>
      </p:sp>
      <p:sp>
        <p:nvSpPr>
          <p:cNvPr id="6" name="TextBox 5"/>
          <p:cNvSpPr txBox="1"/>
          <p:nvPr/>
        </p:nvSpPr>
        <p:spPr>
          <a:xfrm>
            <a:off x="731520" y="2651760"/>
            <a:ext cx="10698480" cy="3108960"/>
          </a:xfrm>
          <a:prstGeom prst="rect">
            <a:avLst/>
          </a:prstGeom>
          <a:noFill/>
        </p:spPr>
        <p:txBody>
          <a:bodyPr wrap="square" anchor="t">
            <a:spAutoFit/>
          </a:bodyPr>
          <a:lstStyle/>
          <a:p>
            <a:pPr algn="l">
              <a:lnSpc>
                <a:spcPct val="118000"/>
              </a:lnSpc>
            </a:pPr>
            <a:r>
              <a:rPr sz="2100" b="0">
                <a:solidFill>
                  <a:srgbClr val="ADBACC"/>
                </a:solidFill>
                <a:latin typeface="Arial"/>
              </a:rPr>
              <a:t>An agentic reviewer reads the code from multiple angles: claimed purpose vs actual behavior, install-time execution, known vulnerabilities, capability deltas. Every verdict lands with cited evidence you can open and read.</a:t>
            </a:r>
          </a:p>
        </p:txBody>
      </p:sp>
      <p:sp>
        <p:nvSpPr>
          <p:cNvPr id="7" name="TextBox 6"/>
          <p:cNvSpPr txBox="1"/>
          <p:nvPr/>
        </p:nvSpPr>
        <p:spPr>
          <a:xfrm>
            <a:off x="502920" y="6400800"/>
            <a:ext cx="8229600" cy="365760"/>
          </a:xfrm>
          <a:prstGeom prst="rect">
            <a:avLst/>
          </a:prstGeom>
          <a:noFill/>
        </p:spPr>
        <p:txBody>
          <a:bodyPr wrap="square" anchor="t">
            <a:spAutoFit/>
          </a:bodyPr>
          <a:lstStyle/>
          <a:p>
            <a:pPr algn="l">
              <a:lnSpc>
                <a:spcPct val="100000"/>
              </a:lnSpc>
            </a:pPr>
            <a:r>
              <a:rPr sz="1000" b="0">
                <a:solidFill>
                  <a:srgbClr val="64748B"/>
                </a:solidFill>
                <a:latin typeface="Consolas"/>
              </a:rPr>
              <a:t>ModuleWarden  ·  Zero-One Hack Vienna 2026  ·  Forecast track</a:t>
            </a:r>
          </a:p>
        </p:txBody>
      </p:sp>
      <p:sp>
        <p:nvSpPr>
          <p:cNvPr id="8" name="TextBox 7"/>
          <p:cNvSpPr txBox="1"/>
          <p:nvPr/>
        </p:nvSpPr>
        <p:spPr>
          <a:xfrm>
            <a:off x="11155680" y="6400800"/>
            <a:ext cx="731520" cy="365760"/>
          </a:xfrm>
          <a:prstGeom prst="rect">
            <a:avLst/>
          </a:prstGeom>
          <a:noFill/>
        </p:spPr>
        <p:txBody>
          <a:bodyPr wrap="square" anchor="t">
            <a:spAutoFit/>
          </a:bodyPr>
          <a:lstStyle/>
          <a:p>
            <a:pPr algn="r">
              <a:lnSpc>
                <a:spcPct val="100000"/>
              </a:lnSpc>
            </a:pPr>
            <a:r>
              <a:rPr sz="1000" b="0">
                <a:solidFill>
                  <a:srgbClr val="64748B"/>
                </a:solidFill>
                <a:latin typeface="Consola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640080"/>
            <a:ext cx="82296" cy="45720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66928"/>
            <a:ext cx="10058400" cy="365760"/>
          </a:xfrm>
          <a:prstGeom prst="rect">
            <a:avLst/>
          </a:prstGeom>
          <a:noFill/>
        </p:spPr>
        <p:txBody>
          <a:bodyPr wrap="square" anchor="t">
            <a:spAutoFit/>
          </a:bodyPr>
          <a:lstStyle/>
          <a:p>
            <a:pPr algn="l">
              <a:lnSpc>
                <a:spcPct val="100000"/>
              </a:lnSpc>
            </a:pPr>
            <a:r>
              <a:rPr sz="1300" b="1">
                <a:solidFill>
                  <a:srgbClr val="34D399"/>
                </a:solidFill>
                <a:latin typeface="Consolas"/>
              </a:rPr>
              <a:t>THE MODEL</a:t>
            </a:r>
          </a:p>
        </p:txBody>
      </p:sp>
      <p:sp>
        <p:nvSpPr>
          <p:cNvPr id="5" name="TextBox 4"/>
          <p:cNvSpPr txBox="1"/>
          <p:nvPr/>
        </p:nvSpPr>
        <p:spPr>
          <a:xfrm>
            <a:off x="713232" y="1051560"/>
            <a:ext cx="10698480" cy="1463040"/>
          </a:xfrm>
          <a:prstGeom prst="rect">
            <a:avLst/>
          </a:prstGeom>
          <a:noFill/>
        </p:spPr>
        <p:txBody>
          <a:bodyPr wrap="square" anchor="t">
            <a:spAutoFit/>
          </a:bodyPr>
          <a:lstStyle/>
          <a:p>
            <a:pPr algn="l">
              <a:lnSpc>
                <a:spcPct val="102000"/>
              </a:lnSpc>
            </a:pPr>
            <a:r>
              <a:rPr sz="3800" b="1">
                <a:solidFill>
                  <a:srgbClr val="F1F5F9"/>
                </a:solidFill>
                <a:latin typeface="Arial"/>
              </a:rPr>
              <a:t>A 27B auditor, fine-tuned on real CVE diffs.</a:t>
            </a:r>
          </a:p>
        </p:txBody>
      </p:sp>
      <p:sp>
        <p:nvSpPr>
          <p:cNvPr id="6" name="TextBox 5"/>
          <p:cNvSpPr txBox="1"/>
          <p:nvPr/>
        </p:nvSpPr>
        <p:spPr>
          <a:xfrm>
            <a:off x="731520" y="2651760"/>
            <a:ext cx="6492240" cy="3108960"/>
          </a:xfrm>
          <a:prstGeom prst="rect">
            <a:avLst/>
          </a:prstGeom>
          <a:noFill/>
        </p:spPr>
        <p:txBody>
          <a:bodyPr wrap="square" anchor="t">
            <a:spAutoFit/>
          </a:bodyPr>
          <a:lstStyle/>
          <a:p>
            <a:pPr algn="l">
              <a:lnSpc>
                <a:spcPct val="118000"/>
              </a:lnSpc>
            </a:pPr>
            <a:r>
              <a:rPr sz="2100" b="0">
                <a:solidFill>
                  <a:srgbClr val="ADBACC"/>
                </a:solidFill>
                <a:latin typeface="Arial"/>
              </a:rPr>
              <a:t>A 27-billion-parameter Qwen, fine-tuned on real vulnerable-vs-patched version pairs. Two LoRA adapters trained on the Leonardo supercomputer (4x A100). Published on Hugging Face.</a:t>
            </a:r>
          </a:p>
        </p:txBody>
      </p:sp>
      <p:sp>
        <p:nvSpPr>
          <p:cNvPr id="7" name="Rectangle 6"/>
          <p:cNvSpPr/>
          <p:nvPr/>
        </p:nvSpPr>
        <p:spPr>
          <a:xfrm>
            <a:off x="7360920" y="2606040"/>
            <a:ext cx="4297680" cy="3154680"/>
          </a:xfrm>
          <a:prstGeom prst="rect">
            <a:avLst/>
          </a:prstGeom>
          <a:solidFill>
            <a:srgbClr val="0E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eonardo-queue.png"/>
          <p:cNvPicPr>
            <a:picLocks noChangeAspect="1"/>
          </p:cNvPicPr>
          <p:nvPr/>
        </p:nvPicPr>
        <p:blipFill>
          <a:blip r:embed="rId2"/>
          <a:stretch>
            <a:fillRect/>
          </a:stretch>
        </p:blipFill>
        <p:spPr>
          <a:xfrm>
            <a:off x="7498079" y="2743200"/>
            <a:ext cx="4023360" cy="2934883"/>
          </a:xfrm>
          <a:prstGeom prst="rect">
            <a:avLst/>
          </a:prstGeom>
        </p:spPr>
      </p:pic>
      <p:sp>
        <p:nvSpPr>
          <p:cNvPr id="9" name="TextBox 8"/>
          <p:cNvSpPr txBox="1"/>
          <p:nvPr/>
        </p:nvSpPr>
        <p:spPr>
          <a:xfrm>
            <a:off x="502920" y="6400800"/>
            <a:ext cx="8229600" cy="365760"/>
          </a:xfrm>
          <a:prstGeom prst="rect">
            <a:avLst/>
          </a:prstGeom>
          <a:noFill/>
        </p:spPr>
        <p:txBody>
          <a:bodyPr wrap="square" anchor="t">
            <a:spAutoFit/>
          </a:bodyPr>
          <a:lstStyle/>
          <a:p>
            <a:pPr algn="l">
              <a:lnSpc>
                <a:spcPct val="100000"/>
              </a:lnSpc>
            </a:pPr>
            <a:r>
              <a:rPr sz="1000" b="0">
                <a:solidFill>
                  <a:srgbClr val="64748B"/>
                </a:solidFill>
                <a:latin typeface="Consolas"/>
              </a:rPr>
              <a:t>ModuleWarden  ·  Zero-One Hack Vienna 2026  ·  Forecast track</a:t>
            </a:r>
          </a:p>
        </p:txBody>
      </p:sp>
      <p:sp>
        <p:nvSpPr>
          <p:cNvPr id="10" name="TextBox 9"/>
          <p:cNvSpPr txBox="1"/>
          <p:nvPr/>
        </p:nvSpPr>
        <p:spPr>
          <a:xfrm>
            <a:off x="11155680" y="6400800"/>
            <a:ext cx="731520" cy="365760"/>
          </a:xfrm>
          <a:prstGeom prst="rect">
            <a:avLst/>
          </a:prstGeom>
          <a:noFill/>
        </p:spPr>
        <p:txBody>
          <a:bodyPr wrap="square" anchor="t">
            <a:spAutoFit/>
          </a:bodyPr>
          <a:lstStyle/>
          <a:p>
            <a:pPr algn="r">
              <a:lnSpc>
                <a:spcPct val="100000"/>
              </a:lnSpc>
            </a:pPr>
            <a:r>
              <a:rPr sz="1000" b="0">
                <a:solidFill>
                  <a:srgbClr val="64748B"/>
                </a:solidFill>
                <a:latin typeface="Consola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640080"/>
            <a:ext cx="82296" cy="45720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66928"/>
            <a:ext cx="10058400" cy="365760"/>
          </a:xfrm>
          <a:prstGeom prst="rect">
            <a:avLst/>
          </a:prstGeom>
          <a:noFill/>
        </p:spPr>
        <p:txBody>
          <a:bodyPr wrap="square" anchor="t">
            <a:spAutoFit/>
          </a:bodyPr>
          <a:lstStyle/>
          <a:p>
            <a:pPr algn="l">
              <a:lnSpc>
                <a:spcPct val="100000"/>
              </a:lnSpc>
            </a:pPr>
            <a:r>
              <a:rPr sz="1300" b="1">
                <a:solidFill>
                  <a:srgbClr val="34D399"/>
                </a:solidFill>
                <a:latin typeface="Consolas"/>
              </a:rPr>
              <a:t>TRAINED VS UNTRAINED</a:t>
            </a:r>
          </a:p>
        </p:txBody>
      </p:sp>
      <p:sp>
        <p:nvSpPr>
          <p:cNvPr id="5" name="TextBox 4"/>
          <p:cNvSpPr txBox="1"/>
          <p:nvPr/>
        </p:nvSpPr>
        <p:spPr>
          <a:xfrm>
            <a:off x="713232" y="1051560"/>
            <a:ext cx="10698480" cy="1463040"/>
          </a:xfrm>
          <a:prstGeom prst="rect">
            <a:avLst/>
          </a:prstGeom>
          <a:noFill/>
        </p:spPr>
        <p:txBody>
          <a:bodyPr wrap="square" anchor="t">
            <a:spAutoFit/>
          </a:bodyPr>
          <a:lstStyle/>
          <a:p>
            <a:pPr algn="l">
              <a:lnSpc>
                <a:spcPct val="102000"/>
              </a:lnSpc>
            </a:pPr>
            <a:r>
              <a:rPr sz="3800" b="1">
                <a:solidFill>
                  <a:srgbClr val="F1F5F9"/>
                </a:solidFill>
                <a:latin typeface="Arial"/>
              </a:rPr>
              <a:t>Measured, not claimed.</a:t>
            </a:r>
          </a:p>
        </p:txBody>
      </p:sp>
      <p:sp>
        <p:nvSpPr>
          <p:cNvPr id="6" name="TextBox 5"/>
          <p:cNvSpPr txBox="1"/>
          <p:nvPr/>
        </p:nvSpPr>
        <p:spPr>
          <a:xfrm>
            <a:off x="731520" y="2651760"/>
            <a:ext cx="10698480" cy="3108960"/>
          </a:xfrm>
          <a:prstGeom prst="rect">
            <a:avLst/>
          </a:prstGeom>
          <a:noFill/>
        </p:spPr>
        <p:txBody>
          <a:bodyPr wrap="square" anchor="t">
            <a:spAutoFit/>
          </a:bodyPr>
          <a:lstStyle/>
          <a:p>
            <a:pPr algn="l">
              <a:lnSpc>
                <a:spcPct val="118000"/>
              </a:lnSpc>
            </a:pPr>
            <a:r>
              <a:rPr sz="2100" b="0">
                <a:solidFill>
                  <a:srgbClr val="ADBACC"/>
                </a:solidFill>
                <a:latin typeface="Arial"/>
              </a:rPr>
              <a:t>Held-out validation loss 0.21, token accuracy 94 percent. That measures how faithfully the model writes up evidence, not whether it spots danger. Untuned, the base drifts the schema; tuned, it is valid every time. Detection stays with the gate.</a:t>
            </a:r>
          </a:p>
        </p:txBody>
      </p:sp>
      <p:sp>
        <p:nvSpPr>
          <p:cNvPr id="7" name="TextBox 6"/>
          <p:cNvSpPr txBox="1"/>
          <p:nvPr/>
        </p:nvSpPr>
        <p:spPr>
          <a:xfrm>
            <a:off x="731520" y="4480560"/>
            <a:ext cx="10698480" cy="1280160"/>
          </a:xfrm>
          <a:prstGeom prst="rect">
            <a:avLst/>
          </a:prstGeom>
          <a:noFill/>
        </p:spPr>
        <p:txBody>
          <a:bodyPr wrap="square" anchor="t">
            <a:spAutoFit/>
          </a:bodyPr>
          <a:lstStyle/>
          <a:p>
            <a:pPr algn="l">
              <a:lnSpc>
                <a:spcPct val="100000"/>
              </a:lnSpc>
            </a:pPr>
            <a:r>
              <a:rPr sz="4600" b="1">
                <a:solidFill>
                  <a:srgbClr val="34D399"/>
                </a:solidFill>
                <a:latin typeface="Consolas"/>
              </a:rPr>
              <a:t>0.21  /  94%</a:t>
            </a:r>
          </a:p>
          <a:p>
            <a:pPr algn="l">
              <a:lnSpc>
                <a:spcPct val="100000"/>
              </a:lnSpc>
              <a:spcBef>
                <a:spcPts val="400"/>
              </a:spcBef>
            </a:pPr>
            <a:r>
              <a:rPr sz="1500" b="0">
                <a:solidFill>
                  <a:srgbClr val="64748B"/>
                </a:solidFill>
                <a:latin typeface="Arial"/>
              </a:rPr>
              <a:t>val loss  /  token accuracy</a:t>
            </a:r>
          </a:p>
        </p:txBody>
      </p:sp>
      <p:sp>
        <p:nvSpPr>
          <p:cNvPr id="8" name="TextBox 7"/>
          <p:cNvSpPr txBox="1"/>
          <p:nvPr/>
        </p:nvSpPr>
        <p:spPr>
          <a:xfrm>
            <a:off x="502920" y="6400800"/>
            <a:ext cx="8229600" cy="365760"/>
          </a:xfrm>
          <a:prstGeom prst="rect">
            <a:avLst/>
          </a:prstGeom>
          <a:noFill/>
        </p:spPr>
        <p:txBody>
          <a:bodyPr wrap="square" anchor="t">
            <a:spAutoFit/>
          </a:bodyPr>
          <a:lstStyle/>
          <a:p>
            <a:pPr algn="l">
              <a:lnSpc>
                <a:spcPct val="100000"/>
              </a:lnSpc>
            </a:pPr>
            <a:r>
              <a:rPr sz="1000" b="0">
                <a:solidFill>
                  <a:srgbClr val="64748B"/>
                </a:solidFill>
                <a:latin typeface="Consolas"/>
              </a:rPr>
              <a:t>ModuleWarden  ·  Zero-One Hack Vienna 2026  ·  Forecast track</a:t>
            </a:r>
          </a:p>
        </p:txBody>
      </p:sp>
      <p:sp>
        <p:nvSpPr>
          <p:cNvPr id="9" name="TextBox 8"/>
          <p:cNvSpPr txBox="1"/>
          <p:nvPr/>
        </p:nvSpPr>
        <p:spPr>
          <a:xfrm>
            <a:off x="11155680" y="6400800"/>
            <a:ext cx="731520" cy="365760"/>
          </a:xfrm>
          <a:prstGeom prst="rect">
            <a:avLst/>
          </a:prstGeom>
          <a:noFill/>
        </p:spPr>
        <p:txBody>
          <a:bodyPr wrap="square" anchor="t">
            <a:spAutoFit/>
          </a:bodyPr>
          <a:lstStyle/>
          <a:p>
            <a:pPr algn="r">
              <a:lnSpc>
                <a:spcPct val="100000"/>
              </a:lnSpc>
            </a:pPr>
            <a:r>
              <a:rPr sz="1000" b="0">
                <a:solidFill>
                  <a:srgbClr val="64748B"/>
                </a:solidFill>
                <a:latin typeface="Consola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640080"/>
            <a:ext cx="82296" cy="45720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66928"/>
            <a:ext cx="10058400" cy="365760"/>
          </a:xfrm>
          <a:prstGeom prst="rect">
            <a:avLst/>
          </a:prstGeom>
          <a:noFill/>
        </p:spPr>
        <p:txBody>
          <a:bodyPr wrap="square" anchor="t">
            <a:spAutoFit/>
          </a:bodyPr>
          <a:lstStyle/>
          <a:p>
            <a:pPr algn="l">
              <a:lnSpc>
                <a:spcPct val="100000"/>
              </a:lnSpc>
            </a:pPr>
            <a:r>
              <a:rPr sz="1300" b="1">
                <a:solidFill>
                  <a:srgbClr val="34D399"/>
                </a:solidFill>
                <a:latin typeface="Consolas"/>
              </a:rPr>
              <a:t>THE FORECAST, TWO SIGNALS</a:t>
            </a:r>
          </a:p>
        </p:txBody>
      </p:sp>
      <p:sp>
        <p:nvSpPr>
          <p:cNvPr id="5" name="TextBox 4"/>
          <p:cNvSpPr txBox="1"/>
          <p:nvPr/>
        </p:nvSpPr>
        <p:spPr>
          <a:xfrm>
            <a:off x="713232" y="1051560"/>
            <a:ext cx="10698480" cy="1463040"/>
          </a:xfrm>
          <a:prstGeom prst="rect">
            <a:avLst/>
          </a:prstGeom>
          <a:noFill/>
        </p:spPr>
        <p:txBody>
          <a:bodyPr wrap="square" anchor="t">
            <a:spAutoFit/>
          </a:bodyPr>
          <a:lstStyle/>
          <a:p>
            <a:pPr algn="l">
              <a:lnSpc>
                <a:spcPct val="102000"/>
              </a:lnSpc>
            </a:pPr>
            <a:r>
              <a:rPr sz="3800" b="1">
                <a:solidFill>
                  <a:srgbClr val="F1F5F9"/>
                </a:solidFill>
                <a:latin typeface="Arial"/>
              </a:rPr>
              <a:t>Sybilion sets review order.</a:t>
            </a:r>
          </a:p>
        </p:txBody>
      </p:sp>
      <p:sp>
        <p:nvSpPr>
          <p:cNvPr id="6" name="TextBox 5"/>
          <p:cNvSpPr txBox="1"/>
          <p:nvPr/>
        </p:nvSpPr>
        <p:spPr>
          <a:xfrm>
            <a:off x="731520" y="2651760"/>
            <a:ext cx="6492240" cy="3108960"/>
          </a:xfrm>
          <a:prstGeom prst="rect">
            <a:avLst/>
          </a:prstGeom>
          <a:noFill/>
        </p:spPr>
        <p:txBody>
          <a:bodyPr wrap="square" anchor="t">
            <a:spAutoFit/>
          </a:bodyPr>
          <a:lstStyle/>
          <a:p>
            <a:pPr algn="l">
              <a:lnSpc>
                <a:spcPct val="118000"/>
              </a:lnSpc>
            </a:pPr>
            <a:r>
              <a:rPr sz="2100" b="0">
                <a:solidFill>
                  <a:srgbClr val="ADBACC"/>
                </a:solidFill>
                <a:latin typeface="Arial"/>
              </a:rPr>
              <a:t>We send each package's download history to Sybilion and use two things: the slope, to rank what we review first, and the band width, to route it. Too wide to call goes to a human; a tight band, the gate auto-audits.</a:t>
            </a:r>
          </a:p>
        </p:txBody>
      </p:sp>
      <p:sp>
        <p:nvSpPr>
          <p:cNvPr id="7" name="Rectangle 6"/>
          <p:cNvSpPr/>
          <p:nvPr/>
        </p:nvSpPr>
        <p:spPr>
          <a:xfrm>
            <a:off x="7360920" y="2606040"/>
            <a:ext cx="4297680" cy="3154680"/>
          </a:xfrm>
          <a:prstGeom prst="rect">
            <a:avLst/>
          </a:prstGeom>
          <a:solidFill>
            <a:srgbClr val="0E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orecast-fan-date-fns.png"/>
          <p:cNvPicPr>
            <a:picLocks noChangeAspect="1"/>
          </p:cNvPicPr>
          <p:nvPr/>
        </p:nvPicPr>
        <p:blipFill>
          <a:blip r:embed="rId2"/>
          <a:stretch>
            <a:fillRect/>
          </a:stretch>
        </p:blipFill>
        <p:spPr>
          <a:xfrm>
            <a:off x="7498079" y="2743200"/>
            <a:ext cx="4023360" cy="2267712"/>
          </a:xfrm>
          <a:prstGeom prst="rect">
            <a:avLst/>
          </a:prstGeom>
        </p:spPr>
      </p:pic>
      <p:sp>
        <p:nvSpPr>
          <p:cNvPr id="9" name="TextBox 8"/>
          <p:cNvSpPr txBox="1"/>
          <p:nvPr/>
        </p:nvSpPr>
        <p:spPr>
          <a:xfrm>
            <a:off x="502920" y="6400800"/>
            <a:ext cx="8229600" cy="365760"/>
          </a:xfrm>
          <a:prstGeom prst="rect">
            <a:avLst/>
          </a:prstGeom>
          <a:noFill/>
        </p:spPr>
        <p:txBody>
          <a:bodyPr wrap="square" anchor="t">
            <a:spAutoFit/>
          </a:bodyPr>
          <a:lstStyle/>
          <a:p>
            <a:pPr algn="l">
              <a:lnSpc>
                <a:spcPct val="100000"/>
              </a:lnSpc>
            </a:pPr>
            <a:r>
              <a:rPr sz="1000" b="0">
                <a:solidFill>
                  <a:srgbClr val="64748B"/>
                </a:solidFill>
                <a:latin typeface="Consolas"/>
              </a:rPr>
              <a:t>ModuleWarden  ·  Zero-One Hack Vienna 2026  ·  Forecast track</a:t>
            </a:r>
          </a:p>
        </p:txBody>
      </p:sp>
      <p:sp>
        <p:nvSpPr>
          <p:cNvPr id="10" name="TextBox 9"/>
          <p:cNvSpPr txBox="1"/>
          <p:nvPr/>
        </p:nvSpPr>
        <p:spPr>
          <a:xfrm>
            <a:off x="11155680" y="6400800"/>
            <a:ext cx="731520" cy="365760"/>
          </a:xfrm>
          <a:prstGeom prst="rect">
            <a:avLst/>
          </a:prstGeom>
          <a:noFill/>
        </p:spPr>
        <p:txBody>
          <a:bodyPr wrap="square" anchor="t">
            <a:spAutoFit/>
          </a:bodyPr>
          <a:lstStyle/>
          <a:p>
            <a:pPr algn="r">
              <a:lnSpc>
                <a:spcPct val="100000"/>
              </a:lnSpc>
            </a:pPr>
            <a:r>
              <a:rPr sz="1000" b="0">
                <a:solidFill>
                  <a:srgbClr val="64748B"/>
                </a:solidFill>
                <a:latin typeface="Consola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640080"/>
            <a:ext cx="82296" cy="45720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66928"/>
            <a:ext cx="10058400" cy="365760"/>
          </a:xfrm>
          <a:prstGeom prst="rect">
            <a:avLst/>
          </a:prstGeom>
          <a:noFill/>
        </p:spPr>
        <p:txBody>
          <a:bodyPr wrap="square" anchor="t">
            <a:spAutoFit/>
          </a:bodyPr>
          <a:lstStyle/>
          <a:p>
            <a:pPr algn="l">
              <a:lnSpc>
                <a:spcPct val="100000"/>
              </a:lnSpc>
            </a:pPr>
            <a:r>
              <a:rPr sz="1300" b="1">
                <a:solidFill>
                  <a:srgbClr val="34D399"/>
                </a:solidFill>
                <a:latin typeface="Consolas"/>
              </a:rPr>
              <a:t>LIVE AT SCALE</a:t>
            </a:r>
          </a:p>
        </p:txBody>
      </p:sp>
      <p:sp>
        <p:nvSpPr>
          <p:cNvPr id="5" name="TextBox 4"/>
          <p:cNvSpPr txBox="1"/>
          <p:nvPr/>
        </p:nvSpPr>
        <p:spPr>
          <a:xfrm>
            <a:off x="713232" y="1051560"/>
            <a:ext cx="10698480" cy="1463040"/>
          </a:xfrm>
          <a:prstGeom prst="rect">
            <a:avLst/>
          </a:prstGeom>
          <a:noFill/>
        </p:spPr>
        <p:txBody>
          <a:bodyPr wrap="square" anchor="t">
            <a:spAutoFit/>
          </a:bodyPr>
          <a:lstStyle/>
          <a:p>
            <a:pPr algn="l">
              <a:lnSpc>
                <a:spcPct val="102000"/>
              </a:lnSpc>
            </a:pPr>
            <a:r>
              <a:rPr sz="3800" b="1">
                <a:solidFill>
                  <a:srgbClr val="F1F5F9"/>
                </a:solidFill>
                <a:latin typeface="Arial"/>
              </a:rPr>
              <a:t>The forecast does the triage.</a:t>
            </a:r>
          </a:p>
        </p:txBody>
      </p:sp>
      <p:sp>
        <p:nvSpPr>
          <p:cNvPr id="6" name="TextBox 5"/>
          <p:cNvSpPr txBox="1"/>
          <p:nvPr/>
        </p:nvSpPr>
        <p:spPr>
          <a:xfrm>
            <a:off x="731520" y="2651760"/>
            <a:ext cx="10698480" cy="3108960"/>
          </a:xfrm>
          <a:prstGeom prst="rect">
            <a:avLst/>
          </a:prstGeom>
          <a:noFill/>
        </p:spPr>
        <p:txBody>
          <a:bodyPr wrap="square" anchor="t">
            <a:spAutoFit/>
          </a:bodyPr>
          <a:lstStyle/>
          <a:p>
            <a:pPr algn="l">
              <a:lnSpc>
                <a:spcPct val="118000"/>
              </a:lnSpc>
            </a:pPr>
            <a:r>
              <a:rPr sz="2100" b="0">
                <a:solidFill>
                  <a:srgbClr val="ADBACC"/>
                </a:solidFill>
                <a:latin typeface="Arial"/>
              </a:rPr>
              <a:t>We ran it live across 46 packages. semver and minimatch are the same size, about 2.5 billion downloads a month. The forecast separates them: semver's band is tight, it auto-clears; minimatch's is wide, a human looks.</a:t>
            </a:r>
          </a:p>
        </p:txBody>
      </p:sp>
      <p:sp>
        <p:nvSpPr>
          <p:cNvPr id="7" name="TextBox 6"/>
          <p:cNvSpPr txBox="1"/>
          <p:nvPr/>
        </p:nvSpPr>
        <p:spPr>
          <a:xfrm>
            <a:off x="731520" y="4480560"/>
            <a:ext cx="10698480" cy="1280160"/>
          </a:xfrm>
          <a:prstGeom prst="rect">
            <a:avLst/>
          </a:prstGeom>
          <a:noFill/>
        </p:spPr>
        <p:txBody>
          <a:bodyPr wrap="square" anchor="t">
            <a:spAutoFit/>
          </a:bodyPr>
          <a:lstStyle/>
          <a:p>
            <a:pPr algn="l">
              <a:lnSpc>
                <a:spcPct val="100000"/>
              </a:lnSpc>
            </a:pPr>
            <a:r>
              <a:rPr sz="4600" b="1">
                <a:solidFill>
                  <a:srgbClr val="34D399"/>
                </a:solidFill>
                <a:latin typeface="Consolas"/>
              </a:rPr>
              <a:t>18 / 28</a:t>
            </a:r>
          </a:p>
          <a:p>
            <a:pPr algn="l">
              <a:lnSpc>
                <a:spcPct val="100000"/>
              </a:lnSpc>
              <a:spcBef>
                <a:spcPts val="400"/>
              </a:spcBef>
            </a:pPr>
            <a:r>
              <a:rPr sz="1500" b="0">
                <a:solidFill>
                  <a:srgbClr val="64748B"/>
                </a:solidFill>
                <a:latin typeface="Arial"/>
              </a:rPr>
              <a:t>routed to a human  /  auto-cleared</a:t>
            </a:r>
          </a:p>
        </p:txBody>
      </p:sp>
      <p:sp>
        <p:nvSpPr>
          <p:cNvPr id="8" name="TextBox 7"/>
          <p:cNvSpPr txBox="1"/>
          <p:nvPr/>
        </p:nvSpPr>
        <p:spPr>
          <a:xfrm>
            <a:off x="502920" y="6400800"/>
            <a:ext cx="8229600" cy="365760"/>
          </a:xfrm>
          <a:prstGeom prst="rect">
            <a:avLst/>
          </a:prstGeom>
          <a:noFill/>
        </p:spPr>
        <p:txBody>
          <a:bodyPr wrap="square" anchor="t">
            <a:spAutoFit/>
          </a:bodyPr>
          <a:lstStyle/>
          <a:p>
            <a:pPr algn="l">
              <a:lnSpc>
                <a:spcPct val="100000"/>
              </a:lnSpc>
            </a:pPr>
            <a:r>
              <a:rPr sz="1000" b="0">
                <a:solidFill>
                  <a:srgbClr val="64748B"/>
                </a:solidFill>
                <a:latin typeface="Consolas"/>
              </a:rPr>
              <a:t>ModuleWarden  ·  Zero-One Hack Vienna 2026  ·  Forecast track</a:t>
            </a:r>
          </a:p>
        </p:txBody>
      </p:sp>
      <p:sp>
        <p:nvSpPr>
          <p:cNvPr id="9" name="TextBox 8"/>
          <p:cNvSpPr txBox="1"/>
          <p:nvPr/>
        </p:nvSpPr>
        <p:spPr>
          <a:xfrm>
            <a:off x="11155680" y="6400800"/>
            <a:ext cx="731520" cy="365760"/>
          </a:xfrm>
          <a:prstGeom prst="rect">
            <a:avLst/>
          </a:prstGeom>
          <a:noFill/>
        </p:spPr>
        <p:txBody>
          <a:bodyPr wrap="square" anchor="t">
            <a:spAutoFit/>
          </a:bodyPr>
          <a:lstStyle/>
          <a:p>
            <a:pPr algn="r">
              <a:lnSpc>
                <a:spcPct val="100000"/>
              </a:lnSpc>
            </a:pPr>
            <a:r>
              <a:rPr sz="1000" b="0">
                <a:solidFill>
                  <a:srgbClr val="64748B"/>
                </a:solidFill>
                <a:latin typeface="Consola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640080"/>
            <a:ext cx="82296" cy="45720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66928"/>
            <a:ext cx="10058400" cy="365760"/>
          </a:xfrm>
          <a:prstGeom prst="rect">
            <a:avLst/>
          </a:prstGeom>
          <a:noFill/>
        </p:spPr>
        <p:txBody>
          <a:bodyPr wrap="square" anchor="t">
            <a:spAutoFit/>
          </a:bodyPr>
          <a:lstStyle/>
          <a:p>
            <a:pPr algn="l">
              <a:lnSpc>
                <a:spcPct val="100000"/>
              </a:lnSpc>
            </a:pPr>
            <a:r>
              <a:rPr sz="1300" b="1">
                <a:solidFill>
                  <a:srgbClr val="34D399"/>
                </a:solidFill>
                <a:latin typeface="Consolas"/>
              </a:rPr>
              <a:t>THE HONEST FLOOR</a:t>
            </a:r>
          </a:p>
        </p:txBody>
      </p:sp>
      <p:sp>
        <p:nvSpPr>
          <p:cNvPr id="5" name="TextBox 4"/>
          <p:cNvSpPr txBox="1"/>
          <p:nvPr/>
        </p:nvSpPr>
        <p:spPr>
          <a:xfrm>
            <a:off x="713232" y="1051560"/>
            <a:ext cx="10698480" cy="1463040"/>
          </a:xfrm>
          <a:prstGeom prst="rect">
            <a:avLst/>
          </a:prstGeom>
          <a:noFill/>
        </p:spPr>
        <p:txBody>
          <a:bodyPr wrap="square" anchor="t">
            <a:spAutoFit/>
          </a:bodyPr>
          <a:lstStyle/>
          <a:p>
            <a:pPr algn="l">
              <a:lnSpc>
                <a:spcPct val="102000"/>
              </a:lnSpc>
            </a:pPr>
            <a:r>
              <a:rPr sz="3800" b="1">
                <a:solidFill>
                  <a:srgbClr val="F1F5F9"/>
                </a:solidFill>
                <a:latin typeface="Arial"/>
              </a:rPr>
              <a:t>We show you what the forecast cannot do.</a:t>
            </a:r>
          </a:p>
        </p:txBody>
      </p:sp>
      <p:sp>
        <p:nvSpPr>
          <p:cNvPr id="6" name="TextBox 5"/>
          <p:cNvSpPr txBox="1"/>
          <p:nvPr/>
        </p:nvSpPr>
        <p:spPr>
          <a:xfrm>
            <a:off x="731520" y="2651760"/>
            <a:ext cx="10698480" cy="3108960"/>
          </a:xfrm>
          <a:prstGeom prst="rect">
            <a:avLst/>
          </a:prstGeom>
          <a:noFill/>
        </p:spPr>
        <p:txBody>
          <a:bodyPr wrap="square" anchor="t">
            <a:spAutoFit/>
          </a:bodyPr>
          <a:lstStyle/>
          <a:p>
            <a:pPr algn="l">
              <a:lnSpc>
                <a:spcPct val="118000"/>
              </a:lnSpc>
            </a:pPr>
            <a:r>
              <a:rPr sz="2100" b="0">
                <a:solidFill>
                  <a:srgbClr val="ADBACC"/>
                </a:solidFill>
                <a:latin typeface="Arial"/>
              </a:rPr>
              <a:t>We tested whether the forecast can detect a dying or compromised package. It cannot. The band and the slope do not separate a dying package from a healthy one. We do not claim 0.90, or calibrated. False certainty is worse than honest uncertainty.</a:t>
            </a:r>
          </a:p>
        </p:txBody>
      </p:sp>
      <p:sp>
        <p:nvSpPr>
          <p:cNvPr id="7" name="TextBox 6"/>
          <p:cNvSpPr txBox="1"/>
          <p:nvPr/>
        </p:nvSpPr>
        <p:spPr>
          <a:xfrm>
            <a:off x="731520" y="4480560"/>
            <a:ext cx="10698480" cy="1280160"/>
          </a:xfrm>
          <a:prstGeom prst="rect">
            <a:avLst/>
          </a:prstGeom>
          <a:noFill/>
        </p:spPr>
        <p:txBody>
          <a:bodyPr wrap="square" anchor="t">
            <a:spAutoFit/>
          </a:bodyPr>
          <a:lstStyle/>
          <a:p>
            <a:pPr algn="l">
              <a:lnSpc>
                <a:spcPct val="100000"/>
              </a:lnSpc>
            </a:pPr>
            <a:r>
              <a:rPr sz="4600" b="1">
                <a:solidFill>
                  <a:srgbClr val="34D399"/>
                </a:solidFill>
                <a:latin typeface="Consolas"/>
              </a:rPr>
              <a:t>0.54</a:t>
            </a:r>
          </a:p>
          <a:p>
            <a:pPr algn="l">
              <a:lnSpc>
                <a:spcPct val="100000"/>
              </a:lnSpc>
              <a:spcBef>
                <a:spcPts val="400"/>
              </a:spcBef>
            </a:pPr>
            <a:r>
              <a:rPr sz="1500" b="0">
                <a:solidFill>
                  <a:srgbClr val="64748B"/>
                </a:solidFill>
                <a:latin typeface="Arial"/>
              </a:rPr>
              <a:t>cold-package classifier AUROC (the floor)</a:t>
            </a:r>
          </a:p>
        </p:txBody>
      </p:sp>
      <p:sp>
        <p:nvSpPr>
          <p:cNvPr id="8" name="TextBox 7"/>
          <p:cNvSpPr txBox="1"/>
          <p:nvPr/>
        </p:nvSpPr>
        <p:spPr>
          <a:xfrm>
            <a:off x="502920" y="6400800"/>
            <a:ext cx="8229600" cy="365760"/>
          </a:xfrm>
          <a:prstGeom prst="rect">
            <a:avLst/>
          </a:prstGeom>
          <a:noFill/>
        </p:spPr>
        <p:txBody>
          <a:bodyPr wrap="square" anchor="t">
            <a:spAutoFit/>
          </a:bodyPr>
          <a:lstStyle/>
          <a:p>
            <a:pPr algn="l">
              <a:lnSpc>
                <a:spcPct val="100000"/>
              </a:lnSpc>
            </a:pPr>
            <a:r>
              <a:rPr sz="1000" b="0">
                <a:solidFill>
                  <a:srgbClr val="64748B"/>
                </a:solidFill>
                <a:latin typeface="Consolas"/>
              </a:rPr>
              <a:t>ModuleWarden  ·  Zero-One Hack Vienna 2026  ·  Forecast track</a:t>
            </a:r>
          </a:p>
        </p:txBody>
      </p:sp>
      <p:sp>
        <p:nvSpPr>
          <p:cNvPr id="9" name="TextBox 8"/>
          <p:cNvSpPr txBox="1"/>
          <p:nvPr/>
        </p:nvSpPr>
        <p:spPr>
          <a:xfrm>
            <a:off x="11155680" y="6400800"/>
            <a:ext cx="731520" cy="365760"/>
          </a:xfrm>
          <a:prstGeom prst="rect">
            <a:avLst/>
          </a:prstGeom>
          <a:noFill/>
        </p:spPr>
        <p:txBody>
          <a:bodyPr wrap="square" anchor="t">
            <a:spAutoFit/>
          </a:bodyPr>
          <a:lstStyle/>
          <a:p>
            <a:pPr algn="r">
              <a:lnSpc>
                <a:spcPct val="100000"/>
              </a:lnSpc>
            </a:pPr>
            <a:r>
              <a:rPr sz="1000" b="0">
                <a:solidFill>
                  <a:srgbClr val="64748B"/>
                </a:solidFill>
                <a:latin typeface="Consola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640080"/>
            <a:ext cx="82296" cy="45720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66928"/>
            <a:ext cx="10058400" cy="365760"/>
          </a:xfrm>
          <a:prstGeom prst="rect">
            <a:avLst/>
          </a:prstGeom>
          <a:noFill/>
        </p:spPr>
        <p:txBody>
          <a:bodyPr wrap="square" anchor="t">
            <a:spAutoFit/>
          </a:bodyPr>
          <a:lstStyle/>
          <a:p>
            <a:pPr algn="l">
              <a:lnSpc>
                <a:spcPct val="100000"/>
              </a:lnSpc>
            </a:pPr>
            <a:r>
              <a:rPr sz="1300" b="1">
                <a:solidFill>
                  <a:srgbClr val="34D399"/>
                </a:solidFill>
                <a:latin typeface="Consolas"/>
              </a:rPr>
              <a:t>THE THREAT FROM WITHIN</a:t>
            </a:r>
          </a:p>
        </p:txBody>
      </p:sp>
      <p:sp>
        <p:nvSpPr>
          <p:cNvPr id="5" name="TextBox 4"/>
          <p:cNvSpPr txBox="1"/>
          <p:nvPr/>
        </p:nvSpPr>
        <p:spPr>
          <a:xfrm>
            <a:off x="713232" y="1051560"/>
            <a:ext cx="10698480" cy="1463040"/>
          </a:xfrm>
          <a:prstGeom prst="rect">
            <a:avLst/>
          </a:prstGeom>
          <a:noFill/>
        </p:spPr>
        <p:txBody>
          <a:bodyPr wrap="square" anchor="t">
            <a:spAutoFit/>
          </a:bodyPr>
          <a:lstStyle/>
          <a:p>
            <a:pPr algn="l">
              <a:lnSpc>
                <a:spcPct val="102000"/>
              </a:lnSpc>
            </a:pPr>
            <a:r>
              <a:rPr sz="3800" b="1">
                <a:solidFill>
                  <a:srgbClr val="F1F5F9"/>
                </a:solidFill>
                <a:latin typeface="Arial"/>
              </a:rPr>
              <a:t>The gate does not care who runs the install.</a:t>
            </a:r>
          </a:p>
        </p:txBody>
      </p:sp>
      <p:sp>
        <p:nvSpPr>
          <p:cNvPr id="6" name="TextBox 5"/>
          <p:cNvSpPr txBox="1"/>
          <p:nvPr/>
        </p:nvSpPr>
        <p:spPr>
          <a:xfrm>
            <a:off x="731520" y="2651760"/>
            <a:ext cx="10698480" cy="3108960"/>
          </a:xfrm>
          <a:prstGeom prst="rect">
            <a:avLst/>
          </a:prstGeom>
          <a:noFill/>
        </p:spPr>
        <p:txBody>
          <a:bodyPr wrap="square" anchor="t">
            <a:spAutoFit/>
          </a:bodyPr>
          <a:lstStyle/>
          <a:p>
            <a:pPr algn="l">
              <a:lnSpc>
                <a:spcPct val="118000"/>
              </a:lnSpc>
            </a:pPr>
            <a:r>
              <a:rPr sz="2100" b="0">
                <a:solidFill>
                  <a:srgbClr val="ADBACC"/>
                </a:solidFill>
                <a:latin typeface="Arial"/>
              </a:rPr>
              <a:t>The most dangerous attacker is not always outside. Verizon puts 74 percent of breaches on the human element: a developer in a hurry, an AI assistant suggesting a package. ModuleWarden gates the install no matter who runs it.</a:t>
            </a:r>
          </a:p>
        </p:txBody>
      </p:sp>
      <p:sp>
        <p:nvSpPr>
          <p:cNvPr id="7" name="TextBox 6"/>
          <p:cNvSpPr txBox="1"/>
          <p:nvPr/>
        </p:nvSpPr>
        <p:spPr>
          <a:xfrm>
            <a:off x="731520" y="4480560"/>
            <a:ext cx="10698480" cy="1280160"/>
          </a:xfrm>
          <a:prstGeom prst="rect">
            <a:avLst/>
          </a:prstGeom>
          <a:noFill/>
        </p:spPr>
        <p:txBody>
          <a:bodyPr wrap="square" anchor="t">
            <a:spAutoFit/>
          </a:bodyPr>
          <a:lstStyle/>
          <a:p>
            <a:pPr algn="l">
              <a:lnSpc>
                <a:spcPct val="100000"/>
              </a:lnSpc>
            </a:pPr>
            <a:r>
              <a:rPr sz="4600" b="1">
                <a:solidFill>
                  <a:srgbClr val="34D399"/>
                </a:solidFill>
                <a:latin typeface="Consolas"/>
              </a:rPr>
              <a:t>74%</a:t>
            </a:r>
          </a:p>
          <a:p>
            <a:pPr algn="l">
              <a:lnSpc>
                <a:spcPct val="100000"/>
              </a:lnSpc>
              <a:spcBef>
                <a:spcPts val="400"/>
              </a:spcBef>
            </a:pPr>
            <a:r>
              <a:rPr sz="1500" b="0">
                <a:solidFill>
                  <a:srgbClr val="64748B"/>
                </a:solidFill>
                <a:latin typeface="Arial"/>
              </a:rPr>
              <a:t>of breaches involve the human element (Verizon DBIR)</a:t>
            </a:r>
          </a:p>
        </p:txBody>
      </p:sp>
      <p:sp>
        <p:nvSpPr>
          <p:cNvPr id="8" name="TextBox 7"/>
          <p:cNvSpPr txBox="1"/>
          <p:nvPr/>
        </p:nvSpPr>
        <p:spPr>
          <a:xfrm>
            <a:off x="502920" y="6400800"/>
            <a:ext cx="8229600" cy="365760"/>
          </a:xfrm>
          <a:prstGeom prst="rect">
            <a:avLst/>
          </a:prstGeom>
          <a:noFill/>
        </p:spPr>
        <p:txBody>
          <a:bodyPr wrap="square" anchor="t">
            <a:spAutoFit/>
          </a:bodyPr>
          <a:lstStyle/>
          <a:p>
            <a:pPr algn="l">
              <a:lnSpc>
                <a:spcPct val="100000"/>
              </a:lnSpc>
            </a:pPr>
            <a:r>
              <a:rPr sz="1000" b="0">
                <a:solidFill>
                  <a:srgbClr val="64748B"/>
                </a:solidFill>
                <a:latin typeface="Consolas"/>
              </a:rPr>
              <a:t>ModuleWarden  ·  Zero-One Hack Vienna 2026  ·  Forecast track</a:t>
            </a:r>
          </a:p>
        </p:txBody>
      </p:sp>
      <p:sp>
        <p:nvSpPr>
          <p:cNvPr id="9" name="TextBox 8"/>
          <p:cNvSpPr txBox="1"/>
          <p:nvPr/>
        </p:nvSpPr>
        <p:spPr>
          <a:xfrm>
            <a:off x="11155680" y="6400800"/>
            <a:ext cx="731520" cy="365760"/>
          </a:xfrm>
          <a:prstGeom prst="rect">
            <a:avLst/>
          </a:prstGeom>
          <a:noFill/>
        </p:spPr>
        <p:txBody>
          <a:bodyPr wrap="square" anchor="t">
            <a:spAutoFit/>
          </a:bodyPr>
          <a:lstStyle/>
          <a:p>
            <a:pPr algn="r">
              <a:lnSpc>
                <a:spcPct val="100000"/>
              </a:lnSpc>
            </a:pPr>
            <a:r>
              <a:rPr sz="1000" b="0">
                <a:solidFill>
                  <a:srgbClr val="64748B"/>
                </a:solidFill>
                <a:latin typeface="Consola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640080"/>
            <a:ext cx="82296" cy="45720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66928"/>
            <a:ext cx="10058400" cy="365760"/>
          </a:xfrm>
          <a:prstGeom prst="rect">
            <a:avLst/>
          </a:prstGeom>
          <a:noFill/>
        </p:spPr>
        <p:txBody>
          <a:bodyPr wrap="square" anchor="t">
            <a:spAutoFit/>
          </a:bodyPr>
          <a:lstStyle/>
          <a:p>
            <a:pPr algn="l">
              <a:lnSpc>
                <a:spcPct val="100000"/>
              </a:lnSpc>
            </a:pPr>
            <a:r>
              <a:rPr sz="1300" b="1">
                <a:solidFill>
                  <a:srgbClr val="34D399"/>
                </a:solidFill>
                <a:latin typeface="Consolas"/>
              </a:rPr>
              <a:t>CLOSE</a:t>
            </a:r>
          </a:p>
        </p:txBody>
      </p:sp>
      <p:sp>
        <p:nvSpPr>
          <p:cNvPr id="5" name="TextBox 4"/>
          <p:cNvSpPr txBox="1"/>
          <p:nvPr/>
        </p:nvSpPr>
        <p:spPr>
          <a:xfrm>
            <a:off x="713232" y="1051560"/>
            <a:ext cx="10698480" cy="1463040"/>
          </a:xfrm>
          <a:prstGeom prst="rect">
            <a:avLst/>
          </a:prstGeom>
          <a:noFill/>
        </p:spPr>
        <p:txBody>
          <a:bodyPr wrap="square" anchor="t">
            <a:spAutoFit/>
          </a:bodyPr>
          <a:lstStyle/>
          <a:p>
            <a:pPr algn="l">
              <a:lnSpc>
                <a:spcPct val="102000"/>
              </a:lnSpc>
            </a:pPr>
            <a:r>
              <a:rPr sz="3800" b="1">
                <a:solidFill>
                  <a:srgbClr val="F1F5F9"/>
                </a:solidFill>
                <a:latin typeface="Arial"/>
              </a:rPr>
              <a:t>Grow a forecast into a new domain without it lying to you.</a:t>
            </a:r>
          </a:p>
        </p:txBody>
      </p:sp>
      <p:sp>
        <p:nvSpPr>
          <p:cNvPr id="6" name="TextBox 5"/>
          <p:cNvSpPr txBox="1"/>
          <p:nvPr/>
        </p:nvSpPr>
        <p:spPr>
          <a:xfrm>
            <a:off x="731520" y="2651760"/>
            <a:ext cx="10698480" cy="3108960"/>
          </a:xfrm>
          <a:prstGeom prst="rect">
            <a:avLst/>
          </a:prstGeom>
          <a:noFill/>
        </p:spPr>
        <p:txBody>
          <a:bodyPr wrap="square" anchor="t">
            <a:spAutoFit/>
          </a:bodyPr>
          <a:lstStyle/>
          <a:p>
            <a:pPr algn="l">
              <a:lnSpc>
                <a:spcPct val="118000"/>
              </a:lnSpc>
            </a:pPr>
            <a:r>
              <a:rPr sz="2100" b="0">
                <a:solidFill>
                  <a:srgbClr val="ADBACC"/>
                </a:solidFill>
                <a:latin typeface="Arial"/>
              </a:rPr>
              <a:t>Sybilion says the domain is yours. We kept what the forecast earned (trajectory ranking), gated what it could not (the full audit pipeline owns the verdict), and conceded the rest with the data.</a:t>
            </a:r>
          </a:p>
        </p:txBody>
      </p:sp>
      <p:sp>
        <p:nvSpPr>
          <p:cNvPr id="7" name="TextBox 6"/>
          <p:cNvSpPr txBox="1"/>
          <p:nvPr/>
        </p:nvSpPr>
        <p:spPr>
          <a:xfrm>
            <a:off x="502920" y="6400800"/>
            <a:ext cx="8229600" cy="365760"/>
          </a:xfrm>
          <a:prstGeom prst="rect">
            <a:avLst/>
          </a:prstGeom>
          <a:noFill/>
        </p:spPr>
        <p:txBody>
          <a:bodyPr wrap="square" anchor="t">
            <a:spAutoFit/>
          </a:bodyPr>
          <a:lstStyle/>
          <a:p>
            <a:pPr algn="l">
              <a:lnSpc>
                <a:spcPct val="100000"/>
              </a:lnSpc>
            </a:pPr>
            <a:r>
              <a:rPr sz="1000" b="0">
                <a:solidFill>
                  <a:srgbClr val="64748B"/>
                </a:solidFill>
                <a:latin typeface="Consolas"/>
              </a:rPr>
              <a:t>ModuleWarden  ·  Zero-One Hack Vienna 2026  ·  Forecast track</a:t>
            </a:r>
          </a:p>
        </p:txBody>
      </p:sp>
      <p:sp>
        <p:nvSpPr>
          <p:cNvPr id="8" name="TextBox 7"/>
          <p:cNvSpPr txBox="1"/>
          <p:nvPr/>
        </p:nvSpPr>
        <p:spPr>
          <a:xfrm>
            <a:off x="11155680" y="6400800"/>
            <a:ext cx="731520" cy="365760"/>
          </a:xfrm>
          <a:prstGeom prst="rect">
            <a:avLst/>
          </a:prstGeom>
          <a:noFill/>
        </p:spPr>
        <p:txBody>
          <a:bodyPr wrap="square" anchor="t">
            <a:spAutoFit/>
          </a:bodyPr>
          <a:lstStyle/>
          <a:p>
            <a:pPr algn="r">
              <a:lnSpc>
                <a:spcPct val="100000"/>
              </a:lnSpc>
            </a:pPr>
            <a:r>
              <a:rPr sz="1000" b="0">
                <a:solidFill>
                  <a:srgbClr val="64748B"/>
                </a:solidFill>
                <a:latin typeface="Consola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108960"/>
            <a:ext cx="12191695" cy="45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48840"/>
            <a:ext cx="10515600" cy="457200"/>
          </a:xfrm>
          <a:prstGeom prst="rect">
            <a:avLst/>
          </a:prstGeom>
          <a:noFill/>
        </p:spPr>
        <p:txBody>
          <a:bodyPr wrap="square" anchor="t">
            <a:spAutoFit/>
          </a:bodyPr>
          <a:lstStyle/>
          <a:p>
            <a:pPr algn="l">
              <a:lnSpc>
                <a:spcPct val="100000"/>
              </a:lnSpc>
            </a:pPr>
            <a:r>
              <a:rPr sz="1800" b="1">
                <a:solidFill>
                  <a:srgbClr val="34D399"/>
                </a:solidFill>
                <a:latin typeface="Consolas"/>
              </a:rPr>
              <a:t>MODULEWARDEN</a:t>
            </a:r>
          </a:p>
        </p:txBody>
      </p:sp>
      <p:sp>
        <p:nvSpPr>
          <p:cNvPr id="5" name="TextBox 4"/>
          <p:cNvSpPr txBox="1"/>
          <p:nvPr/>
        </p:nvSpPr>
        <p:spPr>
          <a:xfrm>
            <a:off x="777240" y="2606040"/>
            <a:ext cx="10607040" cy="1097280"/>
          </a:xfrm>
          <a:prstGeom prst="rect">
            <a:avLst/>
          </a:prstGeom>
          <a:noFill/>
        </p:spPr>
        <p:txBody>
          <a:bodyPr wrap="square" anchor="t">
            <a:spAutoFit/>
          </a:bodyPr>
          <a:lstStyle/>
          <a:p>
            <a:pPr algn="l">
              <a:lnSpc>
                <a:spcPct val="105000"/>
              </a:lnSpc>
            </a:pPr>
            <a:r>
              <a:rPr sz="3600" b="1">
                <a:solidFill>
                  <a:srgbClr val="F1F5F9"/>
                </a:solidFill>
                <a:latin typeface="Arial"/>
              </a:rPr>
              <a:t>Audit every version. Forecast every trajectory. Show every piece of evidence.</a:t>
            </a:r>
          </a:p>
        </p:txBody>
      </p:sp>
      <p:sp>
        <p:nvSpPr>
          <p:cNvPr id="6" name="TextBox 5"/>
          <p:cNvSpPr txBox="1"/>
          <p:nvPr/>
        </p:nvSpPr>
        <p:spPr>
          <a:xfrm>
            <a:off x="822960" y="5120640"/>
            <a:ext cx="10515600" cy="914400"/>
          </a:xfrm>
          <a:prstGeom prst="rect">
            <a:avLst/>
          </a:prstGeom>
          <a:noFill/>
        </p:spPr>
        <p:txBody>
          <a:bodyPr wrap="square" anchor="t">
            <a:spAutoFit/>
          </a:bodyPr>
          <a:lstStyle/>
          <a:p>
            <a:pPr algn="l">
              <a:lnSpc>
                <a:spcPct val="100000"/>
              </a:lnSpc>
            </a:pPr>
            <a:r>
              <a:rPr sz="1800" b="0">
                <a:solidFill>
                  <a:srgbClr val="34D399"/>
                </a:solidFill>
                <a:latin typeface="Consolas"/>
              </a:rPr>
              <a:t>modulewarden.com</a:t>
            </a:r>
          </a:p>
          <a:p>
            <a:pPr algn="l">
              <a:lnSpc>
                <a:spcPct val="100000"/>
              </a:lnSpc>
              <a:spcBef>
                <a:spcPts val="600"/>
              </a:spcBef>
            </a:pPr>
            <a:r>
              <a:rPr sz="1300" b="0">
                <a:solidFill>
                  <a:srgbClr val="64748B"/>
                </a:solidFill>
                <a:latin typeface="Consolas"/>
              </a:rPr>
              <a:t>github.com/apetersson/ModuleWarden   ·   huggingface.co/ademczuk/modulewarden-auditor-qwen3.6-27b-lora</a:t>
            </a:r>
          </a:p>
        </p:txBody>
      </p:sp>
      <p:sp>
        <p:nvSpPr>
          <p:cNvPr id="7" name="TextBox 6"/>
          <p:cNvSpPr txBox="1"/>
          <p:nvPr/>
        </p:nvSpPr>
        <p:spPr>
          <a:xfrm>
            <a:off x="502920" y="6400800"/>
            <a:ext cx="8229600" cy="365760"/>
          </a:xfrm>
          <a:prstGeom prst="rect">
            <a:avLst/>
          </a:prstGeom>
          <a:noFill/>
        </p:spPr>
        <p:txBody>
          <a:bodyPr wrap="square" anchor="t">
            <a:spAutoFit/>
          </a:bodyPr>
          <a:lstStyle/>
          <a:p>
            <a:pPr algn="l">
              <a:lnSpc>
                <a:spcPct val="100000"/>
              </a:lnSpc>
            </a:pPr>
            <a:r>
              <a:rPr sz="1000" b="0">
                <a:solidFill>
                  <a:srgbClr val="64748B"/>
                </a:solidFill>
                <a:latin typeface="Consolas"/>
              </a:rPr>
              <a:t>ModuleWarden  ·  Zero-One Hack Vienna 2026  ·  Forecast track</a:t>
            </a:r>
          </a:p>
        </p:txBody>
      </p:sp>
      <p:sp>
        <p:nvSpPr>
          <p:cNvPr id="8" name="TextBox 7"/>
          <p:cNvSpPr txBox="1"/>
          <p:nvPr/>
        </p:nvSpPr>
        <p:spPr>
          <a:xfrm>
            <a:off x="11155680" y="6400800"/>
            <a:ext cx="731520" cy="365760"/>
          </a:xfrm>
          <a:prstGeom prst="rect">
            <a:avLst/>
          </a:prstGeom>
          <a:noFill/>
        </p:spPr>
        <p:txBody>
          <a:bodyPr wrap="square" anchor="t">
            <a:spAutoFit/>
          </a:bodyPr>
          <a:lstStyle/>
          <a:p>
            <a:pPr algn="r">
              <a:lnSpc>
                <a:spcPct val="100000"/>
              </a:lnSpc>
            </a:pPr>
            <a:r>
              <a:rPr sz="1000" b="0">
                <a:solidFill>
                  <a:srgbClr val="64748B"/>
                </a:solidFill>
                <a:latin typeface="Consolas"/>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