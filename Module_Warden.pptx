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990600"/>
            <a:ext cx="163250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MODULEWARDEN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1476375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866900"/>
            <a:ext cx="12753975" cy="1939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b="1" spc="-13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and gate your software supply chain.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19200" y="4149626"/>
            <a:ext cx="9693021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30" kern="0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trusting your dependencies. Rank them by trajectory, gate the known-bad, and ship a git-committed evidence memo for every decision.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19200" y="9191625"/>
            <a:ext cx="163250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Andrew · Zero-One Hack Vienna 2026 · Sybilion Forecast track · </a:t>
            </a:r>
            <a:pPr algn="l" indent="0" marL="0">
              <a:buNone/>
            </a:pPr>
            <a:r>
              <a:rPr lang="en-US" sz="1575" spc="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modulewarden.com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3067496"/>
            <a:ext cx="163250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3553271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867596"/>
            <a:ext cx="8829675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supply chain is code you did not write.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5619304"/>
            <a:ext cx="7338441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package runs on every machine you ship to. You depend on hundreds — and you can review almost none of them.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2236440"/>
            <a:ext cx="711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THREAT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2722215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036540"/>
            <a:ext cx="7112334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danger is the delta.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4788247"/>
            <a:ext cx="5297805" cy="2395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trusted package ships a new release. The maintainer is compromised, or a contributor goes rogue. A careful attacker leaves nothing a static scanner catches.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219200" y="7393335"/>
            <a:ext cx="52978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 is what changed between two versions.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8962579" y="3050679"/>
            <a:ext cx="2400300" cy="466725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62604" y="3145929"/>
            <a:ext cx="2076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E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lodash@4.17.20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572429" y="3126879"/>
            <a:ext cx="2476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953429" y="3050679"/>
            <a:ext cx="2400300" cy="466725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1F916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53454" y="3145929"/>
            <a:ext cx="2076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lodash@4.17.21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8962579" y="3765054"/>
            <a:ext cx="8106221" cy="3156942"/>
          </a:xfrm>
          <a:prstGeom prst="roundRect">
            <a:avLst>
              <a:gd name="adj" fmla="val 4224"/>
            </a:avLst>
          </a:prstGeom>
          <a:solidFill>
            <a:srgbClr val="090F1B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6904" y="4136529"/>
            <a:ext cx="289471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A6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37824" y="4136529"/>
            <a:ext cx="2668524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BE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"lodash",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76904" y="4619327"/>
            <a:ext cx="289471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A6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37824" y="4619327"/>
            <a:ext cx="3139440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BE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"main": "lodash.js",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76904" y="5102126"/>
            <a:ext cx="7477571" cy="482798"/>
          </a:xfrm>
          <a:prstGeom prst="roundRect">
            <a:avLst>
              <a:gd name="adj" fmla="val 9864"/>
            </a:avLst>
          </a:prstGeom>
          <a:solidFill>
            <a:srgbClr val="831B1B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276904" y="5102126"/>
            <a:ext cx="289471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E06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737824" y="5102126"/>
            <a:ext cx="4238244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D1E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"scripts": { "postinstall":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276904" y="5584924"/>
            <a:ext cx="7477571" cy="482798"/>
          </a:xfrm>
          <a:prstGeom prst="roundRect">
            <a:avLst>
              <a:gd name="adj" fmla="val 9864"/>
            </a:avLst>
          </a:prstGeom>
          <a:solidFill>
            <a:srgbClr val="831B1B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276904" y="5584924"/>
            <a:ext cx="289471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E06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737824" y="5584924"/>
            <a:ext cx="4395216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D1E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 ./.cache/setup.js" }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276904" y="6067723"/>
            <a:ext cx="289471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A6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737824" y="6067723"/>
            <a:ext cx="3139440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BE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"version": "4.17.21"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8962579" y="7131546"/>
            <a:ext cx="834940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added line. no new CVE. the diff is the whole story.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2688134"/>
            <a:ext cx="711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MATH YOU CAN'T OUT-REVIEW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3173909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488234"/>
            <a:ext cx="7112334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dependency multiplies the risk.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5239941"/>
            <a:ext cx="7112334" cy="39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48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1 − (1 − p)</a:t>
            </a:r>
            <a:pPr algn="l" indent="0" marL="0">
              <a:buNone/>
            </a:pPr>
            <a:r>
              <a:rPr lang="en-US" sz="1488" baseline="30000" spc="48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19200" y="5827216"/>
            <a:ext cx="5297805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app carries 1,000+ transitive dependencies, pushing the odds toward certain. A team reviews maybe fifty.</a:t>
            </a:r>
            <a:endParaRPr lang="en-US" sz="247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2579" y="2858393"/>
            <a:ext cx="8106221" cy="4417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2579" y="7333357"/>
            <a:ext cx="19716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0.3% / dep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43804" y="7333357"/>
            <a:ext cx="8286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182029" y="7333357"/>
            <a:ext cx="6000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1%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990600"/>
            <a:ext cx="163250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DEFENSE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1476375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790700"/>
            <a:ext cx="11772900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the one interface every package crosses.</a:t>
            </a:r>
            <a:endParaRPr lang="en-US" sz="5550" dirty="0"/>
          </a:p>
        </p:txBody>
      </p:sp>
      <p:sp>
        <p:nvSpPr>
          <p:cNvPr id="6" name="Shape 4"/>
          <p:cNvSpPr/>
          <p:nvPr/>
        </p:nvSpPr>
        <p:spPr>
          <a:xfrm>
            <a:off x="1219200" y="5644307"/>
            <a:ext cx="6840141" cy="1378744"/>
          </a:xfrm>
          <a:prstGeom prst="roundRect">
            <a:avLst>
              <a:gd name="adj" fmla="val 967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2575" y="5977682"/>
            <a:ext cx="63585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REGISTRY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2575" y="6320582"/>
            <a:ext cx="635859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version, the moment it publishes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8440341" y="6114604"/>
            <a:ext cx="4573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47D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202489" y="4631085"/>
            <a:ext cx="7866311" cy="3405188"/>
          </a:xfrm>
          <a:prstGeom prst="roundRect">
            <a:avLst>
              <a:gd name="adj" fmla="val 3916"/>
            </a:avLst>
          </a:prstGeom>
          <a:solidFill>
            <a:srgbClr val="23A481">
              <a:alpha val="8000"/>
            </a:srgbClr>
          </a:solidFill>
          <a:ln w="9525">
            <a:solidFill>
              <a:srgbClr val="1F9167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35864" y="4964460"/>
            <a:ext cx="741554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MODULEWARDEN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35864" y="5307360"/>
            <a:ext cx="7415547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automatically before it reaches your code — one line to turn on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9535864" y="6426547"/>
            <a:ext cx="152400" cy="152400"/>
          </a:xfrm>
          <a:prstGeom prst="ellipse">
            <a:avLst/>
          </a:prstGeom>
          <a:solidFill>
            <a:srgbClr val="23A481"/>
          </a:solidFill>
          <a:ln/>
        </p:spPr>
      </p:sp>
      <p:sp>
        <p:nvSpPr>
          <p:cNvPr id="14" name="Text 12"/>
          <p:cNvSpPr/>
          <p:nvPr/>
        </p:nvSpPr>
        <p:spPr>
          <a:xfrm>
            <a:off x="9859714" y="6331297"/>
            <a:ext cx="889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D1E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535864" y="6940897"/>
            <a:ext cx="152400" cy="152400"/>
          </a:xfrm>
          <a:prstGeom prst="ellipse">
            <a:avLst/>
          </a:prstGeom>
          <a:solidFill>
            <a:srgbClr val="765A13"/>
          </a:solidFill>
          <a:ln/>
        </p:spPr>
      </p:sp>
      <p:sp>
        <p:nvSpPr>
          <p:cNvPr id="16" name="Text 14"/>
          <p:cNvSpPr/>
          <p:nvPr/>
        </p:nvSpPr>
        <p:spPr>
          <a:xfrm>
            <a:off x="9859714" y="6845647"/>
            <a:ext cx="17031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D1E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Quarantine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535864" y="7455247"/>
            <a:ext cx="152400" cy="152400"/>
          </a:xfrm>
          <a:prstGeom prst="ellipse">
            <a:avLst/>
          </a:prstGeom>
          <a:solidFill>
            <a:srgbClr val="831B1B"/>
          </a:solidFill>
          <a:ln/>
        </p:spPr>
      </p:sp>
      <p:sp>
        <p:nvSpPr>
          <p:cNvPr id="18" name="Text 16"/>
          <p:cNvSpPr/>
          <p:nvPr/>
        </p:nvSpPr>
        <p:spPr>
          <a:xfrm>
            <a:off x="9859714" y="7359997"/>
            <a:ext cx="889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D1E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990600"/>
            <a:ext cx="163250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FIRST, VERDICT SECOND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1476375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790700"/>
            <a:ext cx="16325088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exactly what the model saw.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2752279"/>
            <a:ext cx="70637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reviewer reads the code from four angles. Every verdict lands with cited evidence.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219200" y="4536579"/>
            <a:ext cx="7810500" cy="1816298"/>
          </a:xfrm>
          <a:prstGeom prst="roundRect">
            <a:avLst>
              <a:gd name="adj" fmla="val 734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1625" y="4869954"/>
            <a:ext cx="73188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571625" y="5241429"/>
            <a:ext cx="731882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purpose vs actual behavior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71625" y="5712916"/>
            <a:ext cx="731882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D9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do what the README says — and nothing else?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9258300" y="4536579"/>
            <a:ext cx="7810500" cy="1816298"/>
          </a:xfrm>
          <a:prstGeom prst="roundRect">
            <a:avLst>
              <a:gd name="adj" fmla="val 734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10725" y="4869954"/>
            <a:ext cx="73188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610725" y="5241429"/>
            <a:ext cx="731882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Install-time execution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610725" y="5712916"/>
            <a:ext cx="731882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D9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before your code ever imports it.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219200" y="6581477"/>
            <a:ext cx="7810500" cy="1816298"/>
          </a:xfrm>
          <a:prstGeom prst="roundRect">
            <a:avLst>
              <a:gd name="adj" fmla="val 734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1625" y="6914852"/>
            <a:ext cx="73188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571625" y="7286327"/>
            <a:ext cx="731882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vulnerabilities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571625" y="7757815"/>
            <a:ext cx="731882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D9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Advisories cross-checked against the changed surface.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9258300" y="6581477"/>
            <a:ext cx="7810500" cy="1816298"/>
          </a:xfrm>
          <a:prstGeom prst="roundRect">
            <a:avLst>
              <a:gd name="adj" fmla="val 734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0725" y="6914852"/>
            <a:ext cx="73188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610725" y="7286327"/>
            <a:ext cx="731882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deltas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10725" y="7757815"/>
            <a:ext cx="731882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D9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network, filesystem, or process powers vs the last version.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3086695"/>
            <a:ext cx="711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3572470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886795"/>
            <a:ext cx="7112334" cy="2237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27B auditor, fine-tuned on real CVE diffs.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6371481"/>
            <a:ext cx="529780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real vulnerable-vs-patched version pairs — not synthetic exploits.</a:t>
            </a:r>
            <a:endParaRPr lang="en-US" sz="2475" dirty="0"/>
          </a:p>
        </p:txBody>
      </p:sp>
      <p:sp>
        <p:nvSpPr>
          <p:cNvPr id="7" name="Shape 5"/>
          <p:cNvSpPr/>
          <p:nvPr/>
        </p:nvSpPr>
        <p:spPr>
          <a:xfrm>
            <a:off x="8962579" y="2633663"/>
            <a:ext cx="8106221" cy="5133975"/>
          </a:xfrm>
          <a:prstGeom prst="roundRect">
            <a:avLst>
              <a:gd name="adj" fmla="val 2597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29304" y="3738563"/>
            <a:ext cx="7172771" cy="9525"/>
          </a:xfrm>
          <a:prstGeom prst="rect">
            <a:avLst/>
          </a:prstGeom>
          <a:solidFill>
            <a:srgbClr val="494F52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29304" y="3214688"/>
            <a:ext cx="6835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3119259" y="3062288"/>
            <a:ext cx="348281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47D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27B</a:t>
            </a:r>
            <a:pPr algn="r" indent="0" marL="0">
              <a:buNone/>
            </a:pPr>
            <a:r>
              <a:rPr lang="en-US" sz="25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-parameter Qwen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429304" y="4710113"/>
            <a:ext cx="7172771" cy="9525"/>
          </a:xfrm>
          <a:prstGeom prst="rect">
            <a:avLst/>
          </a:prstGeom>
          <a:solidFill>
            <a:srgbClr val="494F52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429304" y="4186238"/>
            <a:ext cx="205010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3305663" y="4033837"/>
            <a:ext cx="329641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CVE patch diffs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429304" y="5681663"/>
            <a:ext cx="7172771" cy="9525"/>
          </a:xfrm>
          <a:prstGeom prst="rect">
            <a:avLst/>
          </a:prstGeom>
          <a:solidFill>
            <a:srgbClr val="494F52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429304" y="5157788"/>
            <a:ext cx="12909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ADAPTERS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3923740" y="5005388"/>
            <a:ext cx="26783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47D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pPr algn="r" indent="0" marL="0">
              <a:buNone/>
            </a:pPr>
            <a:r>
              <a:rPr lang="en-US" sz="25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adapters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429304" y="6653213"/>
            <a:ext cx="7172771" cy="9525"/>
          </a:xfrm>
          <a:prstGeom prst="rect">
            <a:avLst/>
          </a:prstGeom>
          <a:solidFill>
            <a:srgbClr val="494F52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29304" y="6129338"/>
            <a:ext cx="113913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3452824" y="5976938"/>
            <a:ext cx="314925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· </a:t>
            </a:r>
            <a:pPr algn="r" indent="0" marL="0">
              <a:buNone/>
            </a:pPr>
            <a:r>
              <a:rPr lang="en-US" sz="2550" b="1" dirty="0">
                <a:solidFill>
                  <a:srgbClr val="47D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A100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429304" y="7100888"/>
            <a:ext cx="14427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4363700" y="6948488"/>
            <a:ext cx="22383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2011263"/>
            <a:ext cx="711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TRAINED VS UNTRAINED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2497038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811363"/>
            <a:ext cx="7112334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claimed.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4715470"/>
            <a:ext cx="7112334" cy="3179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750" b="1" spc="-255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 </a:t>
            </a:r>
            <a:pPr algn="l" indent="0" marL="0">
              <a:lnSpc>
                <a:spcPct val="92000"/>
              </a:lnSpc>
              <a:buNone/>
            </a:pPr>
            <a:r>
              <a:rPr lang="en-US" sz="12750" spc="-255" kern="0" dirty="0">
                <a:solidFill>
                  <a:srgbClr val="B0A99F">
                    <a:alpha val="1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algn="l" indent="0" marL="0">
              <a:lnSpc>
                <a:spcPct val="92000"/>
              </a:lnSpc>
              <a:buNone/>
            </a:pPr>
            <a:r>
              <a:rPr lang="en-US" sz="12750" b="1" spc="-255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12750" dirty="0"/>
          </a:p>
        </p:txBody>
      </p:sp>
      <p:sp>
        <p:nvSpPr>
          <p:cNvPr id="7" name="Text 5"/>
          <p:cNvSpPr/>
          <p:nvPr/>
        </p:nvSpPr>
        <p:spPr>
          <a:xfrm>
            <a:off x="1219200" y="8104287"/>
            <a:ext cx="71123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122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loss / token accuracy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962579" y="3395365"/>
            <a:ext cx="500348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measures how faithfully it writes up evidence — not whether it spots danger. Detection stays with the gate.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8962579" y="4838402"/>
            <a:ext cx="3938736" cy="2167533"/>
          </a:xfrm>
          <a:prstGeom prst="roundRect">
            <a:avLst>
              <a:gd name="adj" fmla="val 615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15004" y="5171777"/>
            <a:ext cx="333090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UNTUNED 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15004" y="5552777"/>
            <a:ext cx="3330903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Drifts the schema — verdicts you can't parse or trust.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129915" y="4838402"/>
            <a:ext cx="3938885" cy="2167533"/>
          </a:xfrm>
          <a:prstGeom prst="roundRect">
            <a:avLst>
              <a:gd name="adj" fmla="val 6152"/>
            </a:avLst>
          </a:prstGeom>
          <a:solidFill>
            <a:srgbClr val="0B1220"/>
          </a:solidFill>
          <a:ln w="9525">
            <a:solidFill>
              <a:srgbClr val="1F9167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82340" y="5171777"/>
            <a:ext cx="33310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82340" y="5552777"/>
            <a:ext cx="3331056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evidence schema, every single time.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2481709"/>
            <a:ext cx="711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FORECAST, TWO SIGNALS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2967484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281809"/>
            <a:ext cx="7112334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Sybilion sets review order.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5033516"/>
            <a:ext cx="5297805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each package's download history to Sybilion. The </a:t>
            </a:r>
            <a:pPr algn="l" indent="0" marL="0">
              <a:lnSpc>
                <a:spcPct val="150000"/>
              </a:lnSpc>
              <a:buNone/>
            </a:pPr>
            <a:r>
              <a:rPr lang="en-US" sz="247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</a:t>
            </a:r>
            <a:pPr algn="l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what we review first; the </a:t>
            </a:r>
            <a:pPr algn="l" indent="0" marL="0">
              <a:lnSpc>
                <a:spcPct val="150000"/>
              </a:lnSpc>
              <a:buNone/>
            </a:pPr>
            <a:r>
              <a:rPr lang="en-US" sz="247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width </a:t>
            </a:r>
            <a:pPr algn="l" indent="0" marL="0">
              <a:lnSpc>
                <a:spcPct val="150000"/>
              </a:lnSpc>
              <a:buNone/>
            </a:pPr>
            <a:r>
              <a:rPr lang="en-US" sz="24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it.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219200" y="7148066"/>
            <a:ext cx="47091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wide to call → a human. A tight band → the gate auto-audits.</a:t>
            </a:r>
            <a:endParaRPr lang="en-US" sz="20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2579" y="2878634"/>
            <a:ext cx="8106221" cy="43773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2579" y="7313116"/>
            <a:ext cx="11715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343704" y="7313116"/>
            <a:ext cx="10572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610529" y="7313116"/>
            <a:ext cx="17811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 band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2227362"/>
            <a:ext cx="711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AT SCALE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2713137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027462"/>
            <a:ext cx="7112334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 does the triage.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4893469"/>
            <a:ext cx="7112334" cy="1689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750" b="1" spc="-255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pPr algn="l" indent="0" marL="0">
              <a:lnSpc>
                <a:spcPct val="92000"/>
              </a:lnSpc>
              <a:buNone/>
            </a:pPr>
            <a:r>
              <a:rPr lang="en-US" sz="12750" spc="-255" kern="0" dirty="0">
                <a:solidFill>
                  <a:srgbClr val="B0A99F">
                    <a:alpha val="1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algn="l" indent="0" marL="0">
              <a:lnSpc>
                <a:spcPct val="92000"/>
              </a:lnSpc>
              <a:buNone/>
            </a:pPr>
            <a:r>
              <a:rPr lang="en-US" sz="12750" b="1" spc="-255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2750" dirty="0"/>
          </a:p>
        </p:txBody>
      </p:sp>
      <p:sp>
        <p:nvSpPr>
          <p:cNvPr id="7" name="Text 5"/>
          <p:cNvSpPr/>
          <p:nvPr/>
        </p:nvSpPr>
        <p:spPr>
          <a:xfrm>
            <a:off x="1219200" y="6792664"/>
            <a:ext cx="71123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122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routed to a human / auto-cleared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19200" y="7402264"/>
            <a:ext cx="441483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live across 46 packages. Same size, opposite routing: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8962579" y="3086100"/>
            <a:ext cx="8106221" cy="200025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95954" y="3381375"/>
            <a:ext cx="1104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1E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semver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297025" y="3514725"/>
            <a:ext cx="2514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~2.5B downloads / mo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95954" y="3933825"/>
            <a:ext cx="7439471" cy="400050"/>
          </a:xfrm>
          <a:prstGeom prst="roundRect">
            <a:avLst>
              <a:gd name="adj" fmla="val 19048"/>
            </a:avLst>
          </a:prstGeom>
          <a:solidFill>
            <a:srgbClr val="090F1B"/>
          </a:solidFill>
          <a:ln w="9525">
            <a:solidFill>
              <a:srgbClr val="494F52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21939" y="3943350"/>
            <a:ext cx="1187202" cy="381000"/>
          </a:xfrm>
          <a:prstGeom prst="rect">
            <a:avLst/>
          </a:prstGeom>
          <a:solidFill>
            <a:srgbClr val="23A481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421939" y="4114800"/>
            <a:ext cx="1187202" cy="38100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15" name="Text 13"/>
          <p:cNvSpPr/>
          <p:nvPr/>
        </p:nvSpPr>
        <p:spPr>
          <a:xfrm>
            <a:off x="9295954" y="4505325"/>
            <a:ext cx="76626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tight band → auto-clear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8962579" y="5314950"/>
            <a:ext cx="8106221" cy="200025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5954" y="5610225"/>
            <a:ext cx="1619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1E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minimatch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4297025" y="5743575"/>
            <a:ext cx="2514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~2.5B downloads / mo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295954" y="6162675"/>
            <a:ext cx="7439471" cy="400050"/>
          </a:xfrm>
          <a:prstGeom prst="roundRect">
            <a:avLst>
              <a:gd name="adj" fmla="val 19048"/>
            </a:avLst>
          </a:prstGeom>
          <a:solidFill>
            <a:srgbClr val="090F1B"/>
          </a:solidFill>
          <a:ln w="9525">
            <a:solidFill>
              <a:srgbClr val="494F52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44299" y="6172200"/>
            <a:ext cx="5342632" cy="381000"/>
          </a:xfrm>
          <a:prstGeom prst="rect">
            <a:avLst/>
          </a:prstGeom>
          <a:solidFill>
            <a:srgbClr val="23A481">
              <a:alpha val="1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344299" y="6343650"/>
            <a:ext cx="5342632" cy="38100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22" name="Text 20"/>
          <p:cNvSpPr/>
          <p:nvPr/>
        </p:nvSpPr>
        <p:spPr>
          <a:xfrm>
            <a:off x="9295954" y="6734175"/>
            <a:ext cx="76626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E2B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band → a human looks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2470547"/>
            <a:ext cx="711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HONEST FLOOR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2956322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270647"/>
            <a:ext cx="7112334" cy="2237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show you what the forecast cannot do.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5907732"/>
            <a:ext cx="7112334" cy="1527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750" b="1" spc="-255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</a:t>
            </a:r>
            <a:endParaRPr lang="en-US" sz="12750" dirty="0"/>
          </a:p>
        </p:txBody>
      </p:sp>
      <p:sp>
        <p:nvSpPr>
          <p:cNvPr id="7" name="Text 5"/>
          <p:cNvSpPr/>
          <p:nvPr/>
        </p:nvSpPr>
        <p:spPr>
          <a:xfrm>
            <a:off x="1219200" y="7645003"/>
            <a:ext cx="71123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122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cold-package classifier auroc — the floor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962579" y="3505200"/>
            <a:ext cx="6475095" cy="2333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whether the forecast can detect a dying or compromised package. </a:t>
            </a:r>
            <a:pPr algn="l" indent="0" marL="0"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cannot. </a:t>
            </a:r>
            <a:pPr algn="l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and band do not separate dying from healthy.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962579" y="6124575"/>
            <a:ext cx="565099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claim 0.90 or "calibrated." False certainty is worse than honest uncertainty.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2327672"/>
            <a:ext cx="7112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THREAT FROM WITHIN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2813447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127772"/>
            <a:ext cx="7112334" cy="2237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does not care who runs the install.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219200" y="5764857"/>
            <a:ext cx="7112334" cy="1527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750" b="1" spc="-255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74%</a:t>
            </a:r>
            <a:endParaRPr lang="en-US" sz="12750" dirty="0"/>
          </a:p>
        </p:txBody>
      </p:sp>
      <p:sp>
        <p:nvSpPr>
          <p:cNvPr id="7" name="Text 5"/>
          <p:cNvSpPr/>
          <p:nvPr/>
        </p:nvSpPr>
        <p:spPr>
          <a:xfrm>
            <a:off x="1219200" y="7502128"/>
            <a:ext cx="711233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122" kern="0" dirty="0">
                <a:solidFill>
                  <a:srgbClr val="9D94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breaches involve the human element — verizon dbir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962579" y="3509963"/>
            <a:ext cx="647509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dangerous attacker isn't always outside. A developer in a hurry. An AI assistant suggesting a package.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962579" y="6119813"/>
            <a:ext cx="565099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ModuleWarden gates the install no matter who runs it.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990600"/>
            <a:ext cx="163250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1476375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790700"/>
            <a:ext cx="14716125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0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a forecast into a new domain without it lying to you.</a:t>
            </a:r>
            <a:endParaRPr lang="en-US" sz="5550" dirty="0"/>
          </a:p>
        </p:txBody>
      </p:sp>
      <p:sp>
        <p:nvSpPr>
          <p:cNvPr id="6" name="Shape 4"/>
          <p:cNvSpPr/>
          <p:nvPr/>
        </p:nvSpPr>
        <p:spPr>
          <a:xfrm>
            <a:off x="1219200" y="5128320"/>
            <a:ext cx="5105400" cy="2410718"/>
          </a:xfrm>
          <a:prstGeom prst="roundRect">
            <a:avLst>
              <a:gd name="adj" fmla="val 553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0675" y="5518845"/>
            <a:ext cx="449332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52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590675" y="5909370"/>
            <a:ext cx="449332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forecast earned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590675" y="6457950"/>
            <a:ext cx="449332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ranking — Sybilion sets the order we review in.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591300" y="5128320"/>
            <a:ext cx="5105400" cy="2410718"/>
          </a:xfrm>
          <a:prstGeom prst="roundRect">
            <a:avLst>
              <a:gd name="adj" fmla="val 553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2775" y="5518845"/>
            <a:ext cx="449332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52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GATED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6962775" y="5909370"/>
            <a:ext cx="449332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could not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6962775" y="6457950"/>
            <a:ext cx="449332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pipeline owns the verdict — allow, block, or quarantine.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963400" y="5128320"/>
            <a:ext cx="5105400" cy="2410718"/>
          </a:xfrm>
          <a:prstGeom prst="roundRect">
            <a:avLst>
              <a:gd name="adj" fmla="val 5532"/>
            </a:avLst>
          </a:prstGeom>
          <a:solidFill>
            <a:srgbClr val="0B1220"/>
          </a:solidFill>
          <a:ln w="9525">
            <a:solidFill>
              <a:srgbClr val="494F52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34875" y="5518845"/>
            <a:ext cx="449332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52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CONCEDED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2334875" y="5909370"/>
            <a:ext cx="449332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rest, with the data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12334875" y="6457950"/>
            <a:ext cx="449332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BE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published the floor. The forecast doesn't pretend to detect.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990600"/>
            <a:ext cx="163250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MODULEWARDEN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219200" y="1476375"/>
            <a:ext cx="609600" cy="28575"/>
          </a:xfrm>
          <a:prstGeom prst="roundRect">
            <a:avLst>
              <a:gd name="adj" fmla="val 50000"/>
            </a:avLst>
          </a:prstGeom>
          <a:solidFill>
            <a:srgbClr val="23A4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866900"/>
            <a:ext cx="14029373" cy="289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b="1" spc="-130" kern="0" dirty="0">
                <a:solidFill>
                  <a:srgbClr val="D1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version. Forecast every trajectory. Show every piece of evidence.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19200" y="8286750"/>
            <a:ext cx="163250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7D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modulewarden.com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219200" y="8705850"/>
            <a:ext cx="163250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E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github.com/apetersson/ModuleWarden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19200" y="9124950"/>
            <a:ext cx="163250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E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huggingface.co/ademczuk/modulewarden-auditor-qwen3.6-27b-lora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2026-05-31T07:38:36Z</dcterms:created>
  <dcterms:modified xsi:type="dcterms:W3CDTF">2026-05-31T07:38:36Z</dcterms:modified>
</cp:coreProperties>
</file>